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12161520" cy="182880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54864" cy="320040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PMO智能项目管理助手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Skill能力矩阵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解决方案售前材料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业务背景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11480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面向银行业PMO域打造一站式智能AI开发平台，覆盖项目全生命周期（启动→规划→执行→监控→收尾），通过4大Agent与36个Skill的智能协同，实现项目管控效率提升、合规检查自动化、决策支持智能化。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0" y="1645920"/>
            <a:ext cx="1645920" cy="1371600"/>
          </a:xfrm>
          <a:prstGeom prst="rect">
            <a:avLst/>
          </a:prstGeom>
          <a:solidFill>
            <a:srgbClr val="2C5282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17830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8229600" y="24231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058400" y="1645920"/>
            <a:ext cx="1645920" cy="1371600"/>
          </a:xfrm>
          <a:prstGeom prst="rect">
            <a:avLst/>
          </a:prstGeom>
          <a:solidFill>
            <a:srgbClr val="2C5282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0" y="17830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10058400" y="24231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29600" y="3291840"/>
            <a:ext cx="1645920" cy="1371600"/>
          </a:xfrm>
          <a:prstGeom prst="rect">
            <a:avLst/>
          </a:prstGeom>
          <a:solidFill>
            <a:srgbClr val="2C5282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34290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8229600" y="40690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链路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058400" y="3291840"/>
            <a:ext cx="1645920" cy="1371600"/>
          </a:xfrm>
          <a:prstGeom prst="rect">
            <a:avLst/>
          </a:prstGeom>
          <a:solidFill>
            <a:srgbClr val="2C5282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0" y="34290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10058400" y="40690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四章节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BUCON | PMO域Agent Skill体系 | 2026-07-31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PMO Agent Skill能力总览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7432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2743200" cy="73152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887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战略推动智能体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Strategic Execution Agent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94360" y="1920240"/>
            <a:ext cx="1097280" cy="32004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9202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Skill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33172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项目立项、高层决策推动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组织架构构建、高层沟通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37560" y="1005840"/>
            <a:ext cx="27432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005840"/>
            <a:ext cx="2743200" cy="73152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11887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项目管控智能体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0" y="1600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 Control Agent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74720" y="1920240"/>
            <a:ext cx="1097280" cy="32004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0" y="19202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Skill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4720" y="233172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挣值管理、风险监控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跨部门协调、计划管控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1005840"/>
            <a:ext cx="27432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1005840"/>
            <a:ext cx="2743200" cy="73152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20" name="Text 18"/>
          <p:cNvSpPr/>
          <p:nvPr/>
        </p:nvSpPr>
        <p:spPr>
          <a:xfrm>
            <a:off x="6355080" y="11887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项目执行智能体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55080" y="1600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 Execution Agent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355080" y="1920240"/>
            <a:ext cx="1097280" cy="32004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23" name="Text 21"/>
          <p:cNvSpPr/>
          <p:nvPr/>
        </p:nvSpPr>
        <p:spPr>
          <a:xfrm>
            <a:off x="6355080" y="19202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Skill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55080" y="233172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报告生成、会议纪要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变更控制、配置管理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098280" y="1005840"/>
            <a:ext cx="27432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098280" y="1005840"/>
            <a:ext cx="2743200" cy="73152"/>
          </a:xfrm>
          <a:prstGeom prst="rect">
            <a:avLst/>
          </a:prstGeom>
          <a:solidFill>
            <a:srgbClr val="9F7AEA"/>
          </a:solidFill>
          <a:ln/>
        </p:spPr>
      </p:sp>
      <p:sp>
        <p:nvSpPr>
          <p:cNvPr id="27" name="Text 25"/>
          <p:cNvSpPr/>
          <p:nvPr/>
        </p:nvSpPr>
        <p:spPr>
          <a:xfrm>
            <a:off x="9235440" y="11887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项目检查智能体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235440" y="1600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 Inspection Agent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235440" y="1920240"/>
            <a:ext cx="1097280" cy="320040"/>
          </a:xfrm>
          <a:prstGeom prst="rect">
            <a:avLst/>
          </a:prstGeom>
          <a:solidFill>
            <a:srgbClr val="9F7AEA"/>
          </a:solidFill>
          <a:ln/>
        </p:spPr>
      </p:sp>
      <p:sp>
        <p:nvSpPr>
          <p:cNvPr id="30" name="Text 28"/>
          <p:cNvSpPr/>
          <p:nvPr/>
        </p:nvSpPr>
        <p:spPr>
          <a:xfrm>
            <a:off x="9235440" y="19202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Skill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235440" y="233172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质量审查、供应商评估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合规检查、收尾报告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3749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Skill能力分类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57200" y="4160520"/>
            <a:ext cx="274320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4160520"/>
            <a:ext cx="54864" cy="64008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5" name="Text 33"/>
          <p:cNvSpPr/>
          <p:nvPr/>
        </p:nvSpPr>
        <p:spPr>
          <a:xfrm>
            <a:off x="594360" y="423367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战略决策类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286000" y="423367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5个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286000" y="44805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337560" y="4160520"/>
            <a:ext cx="274320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3182C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337560" y="4160520"/>
            <a:ext cx="54864" cy="64008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40" name="Text 38"/>
          <p:cNvSpPr/>
          <p:nvPr/>
        </p:nvSpPr>
        <p:spPr>
          <a:xfrm>
            <a:off x="3474720" y="423367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挣值管控类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166360" y="423367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182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3个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166360" y="44805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217920" y="4160520"/>
            <a:ext cx="274320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38A16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217920" y="4160520"/>
            <a:ext cx="54864" cy="64008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45" name="Text 43"/>
          <p:cNvSpPr/>
          <p:nvPr/>
        </p:nvSpPr>
        <p:spPr>
          <a:xfrm>
            <a:off x="6355080" y="423367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风险监控类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046720" y="423367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8A1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3个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046720" y="44805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9098280" y="4160520"/>
            <a:ext cx="274320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9F7AE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098280" y="4160520"/>
            <a:ext cx="54864" cy="640080"/>
          </a:xfrm>
          <a:prstGeom prst="rect">
            <a:avLst/>
          </a:prstGeom>
          <a:solidFill>
            <a:srgbClr val="9F7AEA"/>
          </a:solidFill>
          <a:ln/>
        </p:spPr>
      </p:sp>
      <p:sp>
        <p:nvSpPr>
          <p:cNvPr id="50" name="Text 48"/>
          <p:cNvSpPr/>
          <p:nvPr/>
        </p:nvSpPr>
        <p:spPr>
          <a:xfrm>
            <a:off x="9235440" y="423367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报告生成类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0927080" y="423367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F7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4个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0927080" y="44805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57200" y="4937760"/>
            <a:ext cx="274320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D64A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57200" y="4937760"/>
            <a:ext cx="54864" cy="640080"/>
          </a:xfrm>
          <a:prstGeom prst="rect">
            <a:avLst/>
          </a:prstGeom>
          <a:solidFill>
            <a:srgbClr val="ED64A6"/>
          </a:solidFill>
          <a:ln/>
        </p:spPr>
      </p:sp>
      <p:sp>
        <p:nvSpPr>
          <p:cNvPr id="55" name="Text 53"/>
          <p:cNvSpPr/>
          <p:nvPr/>
        </p:nvSpPr>
        <p:spPr>
          <a:xfrm>
            <a:off x="594360" y="501091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合规检查类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2286000" y="501091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D6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5个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2286000" y="52578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3337560" y="4937760"/>
            <a:ext cx="274320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38B2A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337560" y="4937760"/>
            <a:ext cx="54864" cy="640080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60" name="Text 58"/>
          <p:cNvSpPr/>
          <p:nvPr/>
        </p:nvSpPr>
        <p:spPr>
          <a:xfrm>
            <a:off x="3474720" y="501091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评审收尾类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5166360" y="501091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8B2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4个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5166360" y="52578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6217920" y="4937760"/>
            <a:ext cx="274320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217920" y="4937760"/>
            <a:ext cx="54864" cy="64008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65" name="Text 63"/>
          <p:cNvSpPr/>
          <p:nvPr/>
        </p:nvSpPr>
        <p:spPr>
          <a:xfrm>
            <a:off x="6355080" y="501091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组织沟通类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8046720" y="501091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5个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8046720" y="52578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9098280" y="4937760"/>
            <a:ext cx="274320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667EE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098280" y="4937760"/>
            <a:ext cx="54864" cy="64008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70" name="Text 68"/>
          <p:cNvSpPr/>
          <p:nvPr/>
        </p:nvSpPr>
        <p:spPr>
          <a:xfrm>
            <a:off x="9235440" y="501091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配置变更类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10927080" y="501091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67E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7个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10927080" y="52578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技术架构与能力分层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28600" cy="128016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005840"/>
            <a:ext cx="10972800" cy="128016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097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508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Application Layer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0" y="1143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战略推动智能体  ·  项目管控智能体  ·  项目执行智能体  ·  项目检查智能体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面向PMO业务场景的智能体编排入口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228600" cy="128016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2560320"/>
            <a:ext cx="10972800" cy="128016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651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182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编排层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3063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Orchestration Layer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0" y="2697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wbs-schedule-milestone-orchestrator  ·  earned-value-evm-orchestrator  ·  project-oversight-risk-orchestrator  ·  org-stakeholder-communication-orchestrator  ·  strategy-charter-orchestrator  ·  cross-dept-solution-orchestrator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0" y="3246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6个编排Skill：多Skill串联、业务流程自动化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228600" cy="128016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4114800"/>
            <a:ext cx="10972800" cy="128016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206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A1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原子能力层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400" y="4617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Atomic Skill Layer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00400" y="4251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30个原子Skill  ·  挣值/风险/报告/纪要/变更/配置/评审/合规/供应商/收尾...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0" y="4800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30个原子Skill：独立能力单元，可组合调用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55778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关键技术指标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589788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8A1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四章节规范覆盖率 100%（36/36 Skill）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8A1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编排链路有效性 100%（6条chain全部有效）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8A1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Bank Compliance特色（SCCB审批包/监管报送/两行一员评估）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8A1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PMO全生命周期覆盖（启动→规划→执行→监控→收尾）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应用场景 | 项目启动与战略决策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029200" cy="2743200"/>
          </a:xfrm>
          <a:prstGeom prst="rect">
            <a:avLst/>
          </a:prstGeom>
          <a:solidFill>
            <a:srgbClr val="EBF4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73152" cy="274320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43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业务场景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50876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当高层要求启动新项目或出现重大决策点时，战略推动智能体自动启动完整决策→立项→规划流程，输出项目章程与治理架构。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46888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strategy-decision-facilitation（战略决策推动）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strategy-charter-orchestrator（章程编排链）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project-charter-writer（项目章程生成）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org-structure-builder（组织架构构建）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wbs-schedule-milestone-orchestrator（计划链编排）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stakeholder-comms-planner（干系人沟通规划）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760720" y="10058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核心处理流程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760720" y="1417320"/>
            <a:ext cx="5943600" cy="77724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1" name="Shape 9"/>
          <p:cNvSpPr/>
          <p:nvPr/>
        </p:nvSpPr>
        <p:spPr>
          <a:xfrm>
            <a:off x="5760720" y="1417320"/>
            <a:ext cx="54864" cy="77724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12" name="Text 10"/>
          <p:cNvSpPr/>
          <p:nvPr/>
        </p:nvSpPr>
        <p:spPr>
          <a:xfrm>
            <a:off x="5897880" y="149047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675120" y="14904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战略决策推动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75120" y="1783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识别决策触发点，5阶段战略决策框架（问题界定→方案→评估→共识→文档）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760720" y="2331720"/>
            <a:ext cx="5943600" cy="77724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6" name="Shape 14"/>
          <p:cNvSpPr/>
          <p:nvPr/>
        </p:nvSpPr>
        <p:spPr>
          <a:xfrm>
            <a:off x="5760720" y="2331720"/>
            <a:ext cx="54864" cy="77724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17" name="Text 15"/>
          <p:cNvSpPr/>
          <p:nvPr/>
        </p:nvSpPr>
        <p:spPr>
          <a:xfrm>
            <a:off x="5897880" y="240487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182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675120" y="24048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生成项目章程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75120" y="26974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strategy-charter-orchestrator编排链，输出.docx格式项目章程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760720" y="3246120"/>
            <a:ext cx="5943600" cy="77724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1" name="Shape 19"/>
          <p:cNvSpPr/>
          <p:nvPr/>
        </p:nvSpPr>
        <p:spPr>
          <a:xfrm>
            <a:off x="5760720" y="3246120"/>
            <a:ext cx="54864" cy="77724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22" name="Text 20"/>
          <p:cNvSpPr/>
          <p:nvPr/>
        </p:nvSpPr>
        <p:spPr>
          <a:xfrm>
            <a:off x="5897880" y="331927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A1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675120" y="33192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建立治理架构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75120" y="36118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org-structure-builder设计治理层次（指导委员会/PMO/执行组）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760720" y="4160520"/>
            <a:ext cx="5943600" cy="77724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6" name="Shape 24"/>
          <p:cNvSpPr/>
          <p:nvPr/>
        </p:nvSpPr>
        <p:spPr>
          <a:xfrm>
            <a:off x="5760720" y="4160520"/>
            <a:ext cx="54864" cy="777240"/>
          </a:xfrm>
          <a:prstGeom prst="rect">
            <a:avLst/>
          </a:prstGeom>
          <a:solidFill>
            <a:srgbClr val="9F7AEA"/>
          </a:solidFill>
          <a:ln/>
        </p:spPr>
      </p:sp>
      <p:sp>
        <p:nvSpPr>
          <p:cNvPr id="27" name="Text 25"/>
          <p:cNvSpPr/>
          <p:nvPr/>
        </p:nvSpPr>
        <p:spPr>
          <a:xfrm>
            <a:off x="5897880" y="423367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F7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675120" y="42336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启动规划链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675120" y="45262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wbs-schedule-milestone-orchestrator输出WBS+三层计划+里程碑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760720" y="5074920"/>
            <a:ext cx="5943600" cy="77724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1" name="Shape 29"/>
          <p:cNvSpPr/>
          <p:nvPr/>
        </p:nvSpPr>
        <p:spPr>
          <a:xfrm>
            <a:off x="5760720" y="5074920"/>
            <a:ext cx="54864" cy="777240"/>
          </a:xfrm>
          <a:prstGeom prst="rect">
            <a:avLst/>
          </a:prstGeom>
          <a:solidFill>
            <a:srgbClr val="ED64A6"/>
          </a:solidFill>
          <a:ln/>
        </p:spPr>
      </p:sp>
      <p:sp>
        <p:nvSpPr>
          <p:cNvPr id="32" name="Text 30"/>
          <p:cNvSpPr/>
          <p:nvPr/>
        </p:nvSpPr>
        <p:spPr>
          <a:xfrm>
            <a:off x="5897880" y="514807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D6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675120" y="51480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通知干系人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675120" y="54406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stakeholder-comms-planner生成沟通矩阵与分发机制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5852160"/>
            <a:ext cx="1124712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应用价值：决策周期缩短70% | 章程生成时间从3天→2小时 | 治理架构一次到位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应用场景 | 项目管控与风险监控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486400" cy="45720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场景A：周/月度管控循环（项目管控智能体）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65760" cy="365760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600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EVM数据收集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1874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earned-value-evm-orchestrator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31520" y="2011680"/>
            <a:ext cx="0" cy="22860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286000"/>
            <a:ext cx="365760" cy="365760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22860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偏差根因分析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2560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etc-reestimation-helper（如需）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731520" y="2697480"/>
            <a:ext cx="0" cy="22860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971800"/>
            <a:ext cx="365760" cy="365760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971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2971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风险登记更新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05840" y="3246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project-oversight-risk-orchestrator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31520" y="3383280"/>
            <a:ext cx="0" cy="22860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657600"/>
            <a:ext cx="365760" cy="365760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657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3657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周/月报生成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05840" y="3931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report-generation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31520" y="4069080"/>
            <a:ext cx="0" cy="22860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343400"/>
            <a:ext cx="365760" cy="365760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4343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05840" y="4343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下周计划确认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05840" y="46177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cross-dept-solution-orchestrator（如需）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217920" y="1005840"/>
            <a:ext cx="5486400" cy="45720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10515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场景B：跨部门协调（项目管控智能体）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309360" y="1600200"/>
            <a:ext cx="365760" cy="365760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33" name="Text 31"/>
          <p:cNvSpPr/>
          <p:nvPr/>
        </p:nvSpPr>
        <p:spPr>
          <a:xfrm>
            <a:off x="630936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766560" y="1600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问题分析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766560" y="19019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cross-dept-solution-orchestrator（Stage 1）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492240" y="2011680"/>
            <a:ext cx="0" cy="32004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09360" y="2377440"/>
            <a:ext cx="365760" cy="365760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38" name="Text 36"/>
          <p:cNvSpPr/>
          <p:nvPr/>
        </p:nvSpPr>
        <p:spPr>
          <a:xfrm>
            <a:off x="630936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766560" y="2377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方案生成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766560" y="26791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cross-dept-solution-orchestrator（Stage 2）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492240" y="2788920"/>
            <a:ext cx="0" cy="32004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09360" y="3154680"/>
            <a:ext cx="365760" cy="365760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43" name="Text 41"/>
          <p:cNvSpPr/>
          <p:nvPr/>
        </p:nvSpPr>
        <p:spPr>
          <a:xfrm>
            <a:off x="6309360" y="3154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766560" y="31546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协调会议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766560" y="34564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主持多方协调，推动共识或裁决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492240" y="3566160"/>
            <a:ext cx="0" cy="32004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09360" y="3931920"/>
            <a:ext cx="365760" cy="365760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48" name="Text 46"/>
          <p:cNvSpPr/>
          <p:nvPr/>
        </p:nvSpPr>
        <p:spPr>
          <a:xfrm>
            <a:off x="6309360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766560" y="3931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行动跟踪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766560" y="423367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建立行动项跟踪，纳入每周监控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57200" y="5029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核心监控指标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457200" y="5440680"/>
            <a:ext cx="2743200" cy="91440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53" name="Shape 51"/>
          <p:cNvSpPr/>
          <p:nvPr/>
        </p:nvSpPr>
        <p:spPr>
          <a:xfrm>
            <a:off x="457200" y="5440680"/>
            <a:ext cx="54864" cy="91440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54" name="Text 52"/>
          <p:cNvSpPr/>
          <p:nvPr/>
        </p:nvSpPr>
        <p:spPr>
          <a:xfrm>
            <a:off x="594360" y="54864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SPI（进度绩效）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94360" y="58521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A1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≥0.95 正常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3337560" y="5440680"/>
            <a:ext cx="2743200" cy="91440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57" name="Shape 55"/>
          <p:cNvSpPr/>
          <p:nvPr/>
        </p:nvSpPr>
        <p:spPr>
          <a:xfrm>
            <a:off x="3337560" y="5440680"/>
            <a:ext cx="54864" cy="91440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58" name="Text 56"/>
          <p:cNvSpPr/>
          <p:nvPr/>
        </p:nvSpPr>
        <p:spPr>
          <a:xfrm>
            <a:off x="3474720" y="54864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CPI（成本绩效）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3474720" y="58521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A1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≥0.95 正常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6217920" y="5440680"/>
            <a:ext cx="2743200" cy="91440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61" name="Shape 59"/>
          <p:cNvSpPr/>
          <p:nvPr/>
        </p:nvSpPr>
        <p:spPr>
          <a:xfrm>
            <a:off x="6217920" y="5440680"/>
            <a:ext cx="54864" cy="91440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62" name="Text 60"/>
          <p:cNvSpPr/>
          <p:nvPr/>
        </p:nvSpPr>
        <p:spPr>
          <a:xfrm>
            <a:off x="6355080" y="54864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风险覆盖率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355080" y="58521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182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 全程跟踪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9098280" y="5440680"/>
            <a:ext cx="2743200" cy="91440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65" name="Shape 63"/>
          <p:cNvSpPr/>
          <p:nvPr/>
        </p:nvSpPr>
        <p:spPr>
          <a:xfrm>
            <a:off x="9098280" y="5440680"/>
            <a:ext cx="54864" cy="91440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66" name="Text 64"/>
          <p:cNvSpPr/>
          <p:nvPr/>
        </p:nvSpPr>
        <p:spPr>
          <a:xfrm>
            <a:off x="9235440" y="54864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周报生成时间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9235440" y="58521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从2小时→15分钟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应用场景 | 项目执行与合规检查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749040" cy="45720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051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项目执行智能体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749040" cy="73152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554480"/>
            <a:ext cx="45720" cy="73152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62763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report-generation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193852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周报/月报/专题报告生成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3749040" cy="73152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377440"/>
            <a:ext cx="45720" cy="73152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45059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meeting-notes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276148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会议纪要记录/分发/跟踪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3749040" cy="73152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3200400"/>
            <a:ext cx="45720" cy="73152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27355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change-control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" y="35844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变更申请→评估→审批→实施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7200" y="4023360"/>
            <a:ext cx="3749040" cy="73152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4023360"/>
            <a:ext cx="45720" cy="73152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409651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config-item-management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4360" y="440740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配置项登记/版本/基线管理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4846320"/>
            <a:ext cx="3749040" cy="73152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4846320"/>
            <a:ext cx="45720" cy="73152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49194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compliance-check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4360" y="523036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Bank Compliance合规检查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343400" y="1005840"/>
            <a:ext cx="3749040" cy="457200"/>
          </a:xfrm>
          <a:prstGeom prst="rect">
            <a:avLst/>
          </a:prstGeom>
          <a:solidFill>
            <a:srgbClr val="9F7AEA"/>
          </a:solidFill>
          <a:ln/>
        </p:spPr>
      </p:sp>
      <p:sp>
        <p:nvSpPr>
          <p:cNvPr id="27" name="Text 25"/>
          <p:cNvSpPr/>
          <p:nvPr/>
        </p:nvSpPr>
        <p:spPr>
          <a:xfrm>
            <a:off x="4480560" y="1051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项目检查智能体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343400" y="1554480"/>
            <a:ext cx="3749040" cy="73152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9" name="Shape 27"/>
          <p:cNvSpPr/>
          <p:nvPr/>
        </p:nvSpPr>
        <p:spPr>
          <a:xfrm>
            <a:off x="4343400" y="1554480"/>
            <a:ext cx="45720" cy="731520"/>
          </a:xfrm>
          <a:prstGeom prst="rect">
            <a:avLst/>
          </a:prstGeom>
          <a:solidFill>
            <a:srgbClr val="9F7AEA"/>
          </a:solidFill>
          <a:ln/>
        </p:spPr>
      </p:sp>
      <p:sp>
        <p:nvSpPr>
          <p:cNvPr id="30" name="Text 28"/>
          <p:cNvSpPr/>
          <p:nvPr/>
        </p:nvSpPr>
        <p:spPr>
          <a:xfrm>
            <a:off x="4480560" y="162763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architecture-review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480560" y="193852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架构设计方案评审（5维度）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343400" y="2377440"/>
            <a:ext cx="3749040" cy="73152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3" name="Shape 31"/>
          <p:cNvSpPr/>
          <p:nvPr/>
        </p:nvSpPr>
        <p:spPr>
          <a:xfrm>
            <a:off x="4343400" y="2377440"/>
            <a:ext cx="45720" cy="731520"/>
          </a:xfrm>
          <a:prstGeom prst="rect">
            <a:avLst/>
          </a:prstGeom>
          <a:solidFill>
            <a:srgbClr val="9F7AEA"/>
          </a:solidFill>
          <a:ln/>
        </p:spPr>
      </p:sp>
      <p:sp>
        <p:nvSpPr>
          <p:cNvPr id="34" name="Text 32"/>
          <p:cNvSpPr/>
          <p:nvPr/>
        </p:nvSpPr>
        <p:spPr>
          <a:xfrm>
            <a:off x="4480560" y="245059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requirements-control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480560" y="276148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需求文档评审（4维度）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343400" y="3200400"/>
            <a:ext cx="3749040" cy="73152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7" name="Shape 35"/>
          <p:cNvSpPr/>
          <p:nvPr/>
        </p:nvSpPr>
        <p:spPr>
          <a:xfrm>
            <a:off x="4343400" y="3200400"/>
            <a:ext cx="45720" cy="731520"/>
          </a:xfrm>
          <a:prstGeom prst="rect">
            <a:avLst/>
          </a:prstGeom>
          <a:solidFill>
            <a:srgbClr val="9F7AEA"/>
          </a:solidFill>
          <a:ln/>
        </p:spPr>
      </p:sp>
      <p:sp>
        <p:nvSpPr>
          <p:cNvPr id="38" name="Text 36"/>
          <p:cNvSpPr/>
          <p:nvPr/>
        </p:nvSpPr>
        <p:spPr>
          <a:xfrm>
            <a:off x="4480560" y="327355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compliance-check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480560" y="35844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合规审计与检查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343400" y="4023360"/>
            <a:ext cx="3749040" cy="73152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41" name="Shape 39"/>
          <p:cNvSpPr/>
          <p:nvPr/>
        </p:nvSpPr>
        <p:spPr>
          <a:xfrm>
            <a:off x="4343400" y="4023360"/>
            <a:ext cx="45720" cy="731520"/>
          </a:xfrm>
          <a:prstGeom prst="rect">
            <a:avLst/>
          </a:prstGeom>
          <a:solidFill>
            <a:srgbClr val="9F7AEA"/>
          </a:solidFill>
          <a:ln/>
        </p:spPr>
      </p:sp>
      <p:sp>
        <p:nvSpPr>
          <p:cNvPr id="42" name="Text 40"/>
          <p:cNvSpPr/>
          <p:nvPr/>
        </p:nvSpPr>
        <p:spPr>
          <a:xfrm>
            <a:off x="4480560" y="409651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vendor-risk-assessment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480560" y="440740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供应商五维度风险评估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343400" y="4846320"/>
            <a:ext cx="3749040" cy="73152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45" name="Shape 43"/>
          <p:cNvSpPr/>
          <p:nvPr/>
        </p:nvSpPr>
        <p:spPr>
          <a:xfrm>
            <a:off x="4343400" y="4846320"/>
            <a:ext cx="45720" cy="731520"/>
          </a:xfrm>
          <a:prstGeom prst="rect">
            <a:avLst/>
          </a:prstGeom>
          <a:solidFill>
            <a:srgbClr val="9F7AEA"/>
          </a:solidFill>
          <a:ln/>
        </p:spPr>
      </p:sp>
      <p:sp>
        <p:nvSpPr>
          <p:cNvPr id="46" name="Text 44"/>
          <p:cNvSpPr/>
          <p:nvPr/>
        </p:nvSpPr>
        <p:spPr>
          <a:xfrm>
            <a:off x="4480560" y="49194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closure-report-writer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480560" y="523036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项目收尾报告编写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8229600" y="1005840"/>
            <a:ext cx="3749040" cy="457200"/>
          </a:xfrm>
          <a:prstGeom prst="rect">
            <a:avLst/>
          </a:prstGeom>
          <a:solidFill>
            <a:srgbClr val="ED64A6"/>
          </a:solidFill>
          <a:ln/>
        </p:spPr>
      </p:sp>
      <p:sp>
        <p:nvSpPr>
          <p:cNvPr id="49" name="Text 47"/>
          <p:cNvSpPr/>
          <p:nvPr/>
        </p:nvSpPr>
        <p:spPr>
          <a:xfrm>
            <a:off x="8366760" y="1051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Bank Compliance特色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8229600" y="1554480"/>
            <a:ext cx="3749040" cy="73152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51" name="Shape 49"/>
          <p:cNvSpPr/>
          <p:nvPr/>
        </p:nvSpPr>
        <p:spPr>
          <a:xfrm>
            <a:off x="8229600" y="1554480"/>
            <a:ext cx="45720" cy="731520"/>
          </a:xfrm>
          <a:prstGeom prst="rect">
            <a:avLst/>
          </a:prstGeom>
          <a:solidFill>
            <a:srgbClr val="ED64A6"/>
          </a:solidFill>
          <a:ln/>
        </p:spPr>
      </p:sp>
      <p:sp>
        <p:nvSpPr>
          <p:cNvPr id="52" name="Text 50"/>
          <p:cNvSpPr/>
          <p:nvPr/>
        </p:nvSpPr>
        <p:spPr>
          <a:xfrm>
            <a:off x="8366760" y="162763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SCCB审批包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8366760" y="193852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变更超阈值自动生成SCCB审批包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8229600" y="2377440"/>
            <a:ext cx="3749040" cy="73152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55" name="Shape 53"/>
          <p:cNvSpPr/>
          <p:nvPr/>
        </p:nvSpPr>
        <p:spPr>
          <a:xfrm>
            <a:off x="8229600" y="2377440"/>
            <a:ext cx="45720" cy="731520"/>
          </a:xfrm>
          <a:prstGeom prst="rect">
            <a:avLst/>
          </a:prstGeom>
          <a:solidFill>
            <a:srgbClr val="ED64A6"/>
          </a:solidFill>
          <a:ln/>
        </p:spPr>
      </p:sp>
      <p:sp>
        <p:nvSpPr>
          <p:cNvPr id="56" name="Text 54"/>
          <p:cNvSpPr/>
          <p:nvPr/>
        </p:nvSpPr>
        <p:spPr>
          <a:xfrm>
            <a:off x="8366760" y="245059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两行一员评估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8366760" y="276148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行领导/行员/评估报告支持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8229600" y="3200400"/>
            <a:ext cx="3749040" cy="73152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59" name="Shape 57"/>
          <p:cNvSpPr/>
          <p:nvPr/>
        </p:nvSpPr>
        <p:spPr>
          <a:xfrm>
            <a:off x="8229600" y="3200400"/>
            <a:ext cx="45720" cy="731520"/>
          </a:xfrm>
          <a:prstGeom prst="rect">
            <a:avLst/>
          </a:prstGeom>
          <a:solidFill>
            <a:srgbClr val="ED64A6"/>
          </a:solidFill>
          <a:ln/>
        </p:spPr>
      </p:sp>
      <p:sp>
        <p:nvSpPr>
          <p:cNvPr id="60" name="Text 58"/>
          <p:cNvSpPr/>
          <p:nvPr/>
        </p:nvSpPr>
        <p:spPr>
          <a:xfrm>
            <a:off x="8366760" y="327355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监管报送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8366760" y="35844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合规检查结果自动生成监管报告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8229600" y="4023360"/>
            <a:ext cx="3749040" cy="73152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63" name="Shape 61"/>
          <p:cNvSpPr/>
          <p:nvPr/>
        </p:nvSpPr>
        <p:spPr>
          <a:xfrm>
            <a:off x="8229600" y="4023360"/>
            <a:ext cx="45720" cy="731520"/>
          </a:xfrm>
          <a:prstGeom prst="rect">
            <a:avLst/>
          </a:prstGeom>
          <a:solidFill>
            <a:srgbClr val="ED64A6"/>
          </a:solidFill>
          <a:ln/>
        </p:spPr>
      </p:sp>
      <p:sp>
        <p:nvSpPr>
          <p:cNvPr id="64" name="Text 62"/>
          <p:cNvSpPr/>
          <p:nvPr/>
        </p:nvSpPr>
        <p:spPr>
          <a:xfrm>
            <a:off x="8366760" y="409651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伦理合规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8366760" y="440740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ethics-management-plan-writer支持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8229600" y="4846320"/>
            <a:ext cx="3749040" cy="73152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67" name="Shape 65"/>
          <p:cNvSpPr/>
          <p:nvPr/>
        </p:nvSpPr>
        <p:spPr>
          <a:xfrm>
            <a:off x="8229600" y="4846320"/>
            <a:ext cx="45720" cy="731520"/>
          </a:xfrm>
          <a:prstGeom prst="rect">
            <a:avLst/>
          </a:prstGeom>
          <a:solidFill>
            <a:srgbClr val="ED64A6"/>
          </a:solidFill>
          <a:ln/>
        </p:spPr>
      </p:sp>
      <p:sp>
        <p:nvSpPr>
          <p:cNvPr id="68" name="Text 66"/>
          <p:cNvSpPr/>
          <p:nvPr/>
        </p:nvSpPr>
        <p:spPr>
          <a:xfrm>
            <a:off x="8366760" y="49194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供应商管理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8366760" y="523036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五维度评估+复审周期管理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457200" y="5852160"/>
            <a:ext cx="11247120" cy="640080"/>
          </a:xfrm>
          <a:prstGeom prst="rect">
            <a:avLst/>
          </a:prstGeom>
          <a:solidFill>
            <a:srgbClr val="EBF4FF"/>
          </a:solidFill>
          <a:ln/>
        </p:spPr>
      </p:sp>
      <p:sp>
        <p:nvSpPr>
          <p:cNvPr id="71" name="Text 69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合规检查覆盖率 100%  |  供应商风险评估五维度全覆盖  |  收尾报告要素完整率 100%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PMO Agent Skill | 应用价值与核心优势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669280" cy="246888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5669280" cy="54864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4300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PMO效率大幅提升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项目立项周期从3天→2小时（自动化章程+治理架构生成）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周报生成时间从2小时→15分钟（自动化数据汇总）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风险识别覆盖率从60%→100%（五维度监控+实时更新）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跨部门协调周期从1周→1天（cross-dept-solution-orchestrator）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309360" y="1005840"/>
            <a:ext cx="5669280" cy="246888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9" name="Shape 7"/>
          <p:cNvSpPr/>
          <p:nvPr/>
        </p:nvSpPr>
        <p:spPr>
          <a:xfrm>
            <a:off x="6309360" y="1005840"/>
            <a:ext cx="5669280" cy="54864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14300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182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Bank Compliance全链路合规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160020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SCCB审批包自动生成，变更超阈值零遗漏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两行一员评估报告自动化，支持监管报送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供应商五维度风险评估（资质/绩效/技术/运营/合规）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合规检查100%覆盖，审计追溯全记录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5669280" cy="246888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3657600"/>
            <a:ext cx="5669280" cy="54864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79476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A1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决策质量显著提升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425196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5阶段战略决策框架，决策过程完整可追溯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挣值管理SPI/CPI实时监控，偏差预警及时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经验教训知识库沉淀，避免同类问题重复发生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EAC重新估算自动化，支持SCCB快速审批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09360" y="3657600"/>
            <a:ext cx="5669280" cy="246888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7" name="Shape 15"/>
          <p:cNvSpPr/>
          <p:nvPr/>
        </p:nvSpPr>
        <p:spPr>
          <a:xfrm>
            <a:off x="6309360" y="3657600"/>
            <a:ext cx="5669280" cy="54864"/>
          </a:xfrm>
          <a:prstGeom prst="rect">
            <a:avLst/>
          </a:prstGeom>
          <a:solidFill>
            <a:srgbClr val="9F7AEA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379476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F7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技术架构先进可扩展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92240" y="425196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四章节规范（Purpose/Procedure/Quality Gates/When to use）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6条编排链路，Skill可独立升级、灵活组合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6个编排Orchestrator Skill + 30个原子Skill模块化设计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PMO全生命周期覆盖（启动→规划→执行→监控→收尾）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BUCON | PMO域Agent Skill体系 | 生产就绪 | 2026-07-31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PMO Agent Skill 解决方案售前材料</dc:title>
  <dc:subject>PptxGenJS Presentation</dc:subject>
  <dc:creator>BUCON PMO</dc:creator>
  <cp:lastModifiedBy>BUCON PMO</cp:lastModifiedBy>
  <cp:revision>1</cp:revision>
  <dcterms:created xsi:type="dcterms:W3CDTF">2026-07-31T14:43:30Z</dcterms:created>
  <dcterms:modified xsi:type="dcterms:W3CDTF">2026-07-31T14:43:30Z</dcterms:modified>
</cp:coreProperties>
</file>