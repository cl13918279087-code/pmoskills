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16775818" r:id="rId3"/>
    <p:sldId id="16775824" r:id="rId4"/>
    <p:sldId id="16775816" r:id="rId5"/>
    <p:sldId id="16775825" r:id="rId6"/>
    <p:sldId id="16775827" r:id="rId7"/>
    <p:sldId id="16775826" r:id="rId8"/>
    <p:sldId id="16775817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yne Liu" initials="WL" lastIdx="22" clrIdx="0"/>
  <p:cmAuthor id="2" name="Rong,Wensheng" initials="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4593"/>
    <a:srgbClr val="0C2864"/>
    <a:srgbClr val="778495"/>
    <a:srgbClr val="048AE3"/>
    <a:srgbClr val="ECECEC"/>
    <a:srgbClr val="DF203C"/>
    <a:srgbClr val="01379C"/>
    <a:srgbClr val="FFFFFF"/>
    <a:srgbClr val="908E88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 autoAdjust="0"/>
    <p:restoredTop sz="96024" autoAdjust="0"/>
  </p:normalViewPr>
  <p:slideViewPr>
    <p:cSldViewPr snapToGrid="0" snapToObjects="1">
      <p:cViewPr varScale="1">
        <p:scale>
          <a:sx n="102" d="100"/>
          <a:sy n="102" d="100"/>
        </p:scale>
        <p:origin x="62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0" d="100"/>
        <a:sy n="60" d="100"/>
      </p:scale>
      <p:origin x="0" y="0"/>
    </p:cViewPr>
  </p:notesTextViewPr>
  <p:sorterViewPr>
    <p:cViewPr>
      <p:scale>
        <a:sx n="80" d="100"/>
        <a:sy n="80" d="100"/>
      </p:scale>
      <p:origin x="0" y="-46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7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91AE53-4A8D-7E46-8778-97F32E0FFA0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B9AF1F-BCFF-3A43-BA45-45077E4B5FE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jpe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microsoft.com/office/2007/relationships/hdphoto" Target="../media/image9.wdp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microsoft.com/office/2007/relationships/hdphoto" Target="../media/image11.wdp"/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microsoft.com/office/2007/relationships/hdphoto" Target="../media/image11.wdp"/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6729" y="2428932"/>
            <a:ext cx="10802421" cy="92333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66729" y="3454530"/>
            <a:ext cx="1080242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20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66728" y="660865"/>
            <a:ext cx="1954487" cy="578895"/>
          </a:xfrm>
          <a:prstGeom prst="rect">
            <a:avLst/>
          </a:prstGeom>
        </p:spPr>
      </p:pic>
      <p:sp>
        <p:nvSpPr>
          <p:cNvPr id="13" name="任意形状 11"/>
          <p:cNvSpPr/>
          <p:nvPr userDrawn="1"/>
        </p:nvSpPr>
        <p:spPr>
          <a:xfrm>
            <a:off x="2" y="0"/>
            <a:ext cx="4043995" cy="2072054"/>
          </a:xfrm>
          <a:custGeom>
            <a:avLst/>
            <a:gdLst>
              <a:gd name="connsiteX0" fmla="*/ 0 w 4043995"/>
              <a:gd name="connsiteY0" fmla="*/ 0 h 2072054"/>
              <a:gd name="connsiteX1" fmla="*/ 4043995 w 4043995"/>
              <a:gd name="connsiteY1" fmla="*/ 0 h 2072054"/>
              <a:gd name="connsiteX2" fmla="*/ 2129342 w 4043995"/>
              <a:gd name="connsiteY2" fmla="*/ 1914653 h 2072054"/>
              <a:gd name="connsiteX3" fmla="*/ 1369339 w 4043995"/>
              <a:gd name="connsiteY3" fmla="*/ 1914653 h 2072054"/>
              <a:gd name="connsiteX4" fmla="*/ 0 w 4043995"/>
              <a:gd name="connsiteY4" fmla="*/ 545313 h 207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3995" h="2072054">
                <a:moveTo>
                  <a:pt x="0" y="0"/>
                </a:moveTo>
                <a:lnTo>
                  <a:pt x="4043995" y="0"/>
                </a:lnTo>
                <a:lnTo>
                  <a:pt x="2129342" y="1914653"/>
                </a:lnTo>
                <a:cubicBezTo>
                  <a:pt x="1919474" y="2124521"/>
                  <a:pt x="1579208" y="2124521"/>
                  <a:pt x="1369339" y="1914653"/>
                </a:cubicBezTo>
                <a:lnTo>
                  <a:pt x="0" y="5453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2780"/>
          </a:p>
        </p:txBody>
      </p:sp>
      <p:sp>
        <p:nvSpPr>
          <p:cNvPr id="16" name="文本框 15"/>
          <p:cNvSpPr txBox="1"/>
          <p:nvPr userDrawn="1"/>
        </p:nvSpPr>
        <p:spPr>
          <a:xfrm>
            <a:off x="766729" y="6097594"/>
            <a:ext cx="4349477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zh-CN" altLang="en-US" sz="1400" b="0" i="0" kern="1200" spc="600" baseline="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数字科技成就美好世界</a:t>
            </a:r>
            <a:endParaRPr lang="zh-CN" altLang="en-US" sz="1400" b="0" i="0" kern="1200" spc="600" baseline="0" dirty="0">
              <a:solidFill>
                <a:schemeClr val="accent2">
                  <a:lumMod val="60000"/>
                  <a:lumOff val="4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>
          <a:xfrm>
            <a:off x="10539784" y="5359426"/>
            <a:ext cx="1029365" cy="10293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63849" y="739405"/>
            <a:ext cx="2191230" cy="383718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766729" y="6097594"/>
            <a:ext cx="4349477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/>
            <a:r>
              <a:rPr lang="zh-CN" altLang="en-US" sz="1400" b="0" i="0" kern="1200" spc="600" baseline="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销售热线：</a:t>
            </a:r>
            <a:r>
              <a:rPr lang="en-US" altLang="zh-CN" sz="1400" b="0" i="0" kern="1200" spc="600" baseline="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400-020-9900</a:t>
            </a:r>
            <a:endParaRPr lang="zh-CN" altLang="en-US" sz="1400" b="0" i="0" kern="1200" spc="600" baseline="0" dirty="0">
              <a:solidFill>
                <a:schemeClr val="accent2">
                  <a:lumMod val="60000"/>
                  <a:lumOff val="4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10539784" y="5359426"/>
            <a:ext cx="1029365" cy="1029365"/>
          </a:xfrm>
          <a:prstGeom prst="rect">
            <a:avLst/>
          </a:prstGeom>
        </p:spPr>
      </p:pic>
      <p:sp>
        <p:nvSpPr>
          <p:cNvPr id="11" name="任意形状 8"/>
          <p:cNvSpPr/>
          <p:nvPr userDrawn="1"/>
        </p:nvSpPr>
        <p:spPr>
          <a:xfrm>
            <a:off x="2" y="0"/>
            <a:ext cx="4043995" cy="2072054"/>
          </a:xfrm>
          <a:custGeom>
            <a:avLst/>
            <a:gdLst>
              <a:gd name="connsiteX0" fmla="*/ 0 w 4043995"/>
              <a:gd name="connsiteY0" fmla="*/ 0 h 2072054"/>
              <a:gd name="connsiteX1" fmla="*/ 4043995 w 4043995"/>
              <a:gd name="connsiteY1" fmla="*/ 0 h 2072054"/>
              <a:gd name="connsiteX2" fmla="*/ 2129342 w 4043995"/>
              <a:gd name="connsiteY2" fmla="*/ 1914653 h 2072054"/>
              <a:gd name="connsiteX3" fmla="*/ 1369339 w 4043995"/>
              <a:gd name="connsiteY3" fmla="*/ 1914653 h 2072054"/>
              <a:gd name="connsiteX4" fmla="*/ 0 w 4043995"/>
              <a:gd name="connsiteY4" fmla="*/ 545313 h 207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3995" h="2072054">
                <a:moveTo>
                  <a:pt x="0" y="0"/>
                </a:moveTo>
                <a:lnTo>
                  <a:pt x="4043995" y="0"/>
                </a:lnTo>
                <a:lnTo>
                  <a:pt x="2129342" y="1914653"/>
                </a:lnTo>
                <a:cubicBezTo>
                  <a:pt x="1919474" y="2124521"/>
                  <a:pt x="1579208" y="2124521"/>
                  <a:pt x="1369339" y="1914653"/>
                </a:cubicBezTo>
                <a:lnTo>
                  <a:pt x="0" y="5453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278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63849" y="739405"/>
            <a:ext cx="2191230" cy="383718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模板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6727" y="2663884"/>
            <a:ext cx="8754645" cy="923330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algn="l">
              <a:defRPr sz="4800" b="1" i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3849" y="739405"/>
            <a:ext cx="2191230" cy="383718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模板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47" r="41786"/>
          <a:stretch>
            <a:fillRect/>
          </a:stretch>
        </p:blipFill>
        <p:spPr>
          <a:xfrm>
            <a:off x="478972" y="0"/>
            <a:ext cx="62992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公司模板 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形状 12"/>
          <p:cNvSpPr/>
          <p:nvPr userDrawn="1"/>
        </p:nvSpPr>
        <p:spPr>
          <a:xfrm rot="5400000">
            <a:off x="11020144" y="-744250"/>
            <a:ext cx="427606" cy="1916110"/>
          </a:xfrm>
          <a:custGeom>
            <a:avLst/>
            <a:gdLst>
              <a:gd name="connsiteX0" fmla="*/ 0 w 464885"/>
              <a:gd name="connsiteY0" fmla="*/ 1618273 h 2083158"/>
              <a:gd name="connsiteX1" fmla="*/ 0 w 464885"/>
              <a:gd name="connsiteY1" fmla="*/ 0 h 2083158"/>
              <a:gd name="connsiteX2" fmla="*/ 464885 w 464885"/>
              <a:gd name="connsiteY2" fmla="*/ 0 h 2083158"/>
              <a:gd name="connsiteX3" fmla="*/ 464885 w 464885"/>
              <a:gd name="connsiteY3" fmla="*/ 2083158 h 2083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885" h="2083158">
                <a:moveTo>
                  <a:pt x="0" y="1618273"/>
                </a:moveTo>
                <a:lnTo>
                  <a:pt x="0" y="0"/>
                </a:lnTo>
                <a:lnTo>
                  <a:pt x="464885" y="0"/>
                </a:lnTo>
                <a:lnTo>
                  <a:pt x="464885" y="20831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278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6200" y="470099"/>
            <a:ext cx="11992104" cy="631937"/>
          </a:xfrm>
          <a:prstGeom prst="rect">
            <a:avLst/>
          </a:prstGeom>
        </p:spPr>
        <p:txBody>
          <a:bodyPr tIns="36000" b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800"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2" y="1098811"/>
            <a:ext cx="783771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780"/>
          </a:p>
        </p:txBody>
      </p:sp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A9A43-674D-D248-B5BB-6D577B7C09A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98E54-548E-964E-BCC7-E1A3B3478CD9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8886" y="92150"/>
            <a:ext cx="1389418" cy="243309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公司模板 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形状 12"/>
          <p:cNvSpPr/>
          <p:nvPr userDrawn="1"/>
        </p:nvSpPr>
        <p:spPr>
          <a:xfrm rot="5400000">
            <a:off x="11020144" y="-744250"/>
            <a:ext cx="427606" cy="1916110"/>
          </a:xfrm>
          <a:custGeom>
            <a:avLst/>
            <a:gdLst>
              <a:gd name="connsiteX0" fmla="*/ 0 w 464885"/>
              <a:gd name="connsiteY0" fmla="*/ 1618273 h 2083158"/>
              <a:gd name="connsiteX1" fmla="*/ 0 w 464885"/>
              <a:gd name="connsiteY1" fmla="*/ 0 h 2083158"/>
              <a:gd name="connsiteX2" fmla="*/ 464885 w 464885"/>
              <a:gd name="connsiteY2" fmla="*/ 0 h 2083158"/>
              <a:gd name="connsiteX3" fmla="*/ 464885 w 464885"/>
              <a:gd name="connsiteY3" fmla="*/ 2083158 h 2083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885" h="2083158">
                <a:moveTo>
                  <a:pt x="0" y="1618273"/>
                </a:moveTo>
                <a:lnTo>
                  <a:pt x="0" y="0"/>
                </a:lnTo>
                <a:lnTo>
                  <a:pt x="464885" y="0"/>
                </a:lnTo>
                <a:lnTo>
                  <a:pt x="464885" y="20831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278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6200" y="470099"/>
            <a:ext cx="11992104" cy="631937"/>
          </a:xfrm>
          <a:prstGeom prst="rect">
            <a:avLst/>
          </a:prstGeom>
        </p:spPr>
        <p:txBody>
          <a:bodyPr tIns="36000" b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2" y="1098811"/>
            <a:ext cx="783771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780"/>
          </a:p>
        </p:txBody>
      </p:sp>
      <p:sp>
        <p:nvSpPr>
          <p:cNvPr id="2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A9A43-674D-D248-B5BB-6D577B7C09A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98E54-548E-964E-BCC7-E1A3B3478CD9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8886" y="92150"/>
            <a:ext cx="1389418" cy="243309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主要模板 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6201" y="96722"/>
            <a:ext cx="11625562" cy="565319"/>
          </a:xfrm>
          <a:prstGeom prst="rect">
            <a:avLst/>
          </a:prstGeom>
        </p:spPr>
        <p:txBody>
          <a:bodyPr tIns="36000" b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4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0" y="667854"/>
            <a:ext cx="783771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任意形状 15"/>
          <p:cNvSpPr/>
          <p:nvPr userDrawn="1"/>
        </p:nvSpPr>
        <p:spPr>
          <a:xfrm rot="5400000">
            <a:off x="11020143" y="-744250"/>
            <a:ext cx="427606" cy="1916110"/>
          </a:xfrm>
          <a:custGeom>
            <a:avLst/>
            <a:gdLst>
              <a:gd name="connsiteX0" fmla="*/ 0 w 464885"/>
              <a:gd name="connsiteY0" fmla="*/ 1618273 h 2083158"/>
              <a:gd name="connsiteX1" fmla="*/ 0 w 464885"/>
              <a:gd name="connsiteY1" fmla="*/ 0 h 2083158"/>
              <a:gd name="connsiteX2" fmla="*/ 464885 w 464885"/>
              <a:gd name="connsiteY2" fmla="*/ 0 h 2083158"/>
              <a:gd name="connsiteX3" fmla="*/ 464885 w 464885"/>
              <a:gd name="connsiteY3" fmla="*/ 2083158 h 2083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885" h="2083158">
                <a:moveTo>
                  <a:pt x="0" y="1618273"/>
                </a:moveTo>
                <a:lnTo>
                  <a:pt x="0" y="0"/>
                </a:lnTo>
                <a:lnTo>
                  <a:pt x="464885" y="0"/>
                </a:lnTo>
                <a:lnTo>
                  <a:pt x="464885" y="20831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39798E54-548E-964E-BCC7-E1A3B3478CD9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8886" y="92150"/>
            <a:ext cx="1389418" cy="2433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主要模板 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6201" y="96722"/>
            <a:ext cx="11625562" cy="565319"/>
          </a:xfrm>
          <a:prstGeom prst="rect">
            <a:avLst/>
          </a:prstGeom>
        </p:spPr>
        <p:txBody>
          <a:bodyPr tIns="36000" bIns="0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4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0" y="667854"/>
            <a:ext cx="783771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任意形状 15"/>
          <p:cNvSpPr/>
          <p:nvPr userDrawn="1"/>
        </p:nvSpPr>
        <p:spPr>
          <a:xfrm rot="5400000">
            <a:off x="11020143" y="-744250"/>
            <a:ext cx="427606" cy="1916110"/>
          </a:xfrm>
          <a:custGeom>
            <a:avLst/>
            <a:gdLst>
              <a:gd name="connsiteX0" fmla="*/ 0 w 464885"/>
              <a:gd name="connsiteY0" fmla="*/ 1618273 h 2083158"/>
              <a:gd name="connsiteX1" fmla="*/ 0 w 464885"/>
              <a:gd name="connsiteY1" fmla="*/ 0 h 2083158"/>
              <a:gd name="connsiteX2" fmla="*/ 464885 w 464885"/>
              <a:gd name="connsiteY2" fmla="*/ 0 h 2083158"/>
              <a:gd name="connsiteX3" fmla="*/ 464885 w 464885"/>
              <a:gd name="connsiteY3" fmla="*/ 2083158 h 2083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4885" h="2083158">
                <a:moveTo>
                  <a:pt x="0" y="1618273"/>
                </a:moveTo>
                <a:lnTo>
                  <a:pt x="0" y="0"/>
                </a:lnTo>
                <a:lnTo>
                  <a:pt x="464885" y="0"/>
                </a:lnTo>
                <a:lnTo>
                  <a:pt x="464885" y="20831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4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>
          <a:xfrm>
            <a:off x="9440174" y="647430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/>
            </a:lvl1pPr>
          </a:lstStyle>
          <a:p>
            <a:fld id="{39798E54-548E-964E-BCC7-E1A3B3478CD9}" type="slidenum">
              <a:rPr kumimoji="1" lang="zh-CN" altLang="en-US" smtClean="0"/>
            </a:fld>
            <a:endParaRPr kumimoji="1"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8886" y="92150"/>
            <a:ext cx="1389418" cy="2433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演示模板 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602604" y="1806882"/>
            <a:ext cx="10802421" cy="830997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ctr">
              <a:lnSpc>
                <a:spcPct val="100000"/>
              </a:lnSpc>
              <a:defRPr sz="4800" b="1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8" name="副标题 2"/>
          <p:cNvSpPr>
            <a:spLocks noGrp="1"/>
          </p:cNvSpPr>
          <p:nvPr>
            <p:ph type="subTitle" idx="1"/>
          </p:nvPr>
        </p:nvSpPr>
        <p:spPr>
          <a:xfrm>
            <a:off x="602604" y="2786314"/>
            <a:ext cx="10802421" cy="40722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en-US" altLang="zh-CN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25306" y="173152"/>
            <a:ext cx="1862621" cy="326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演示模板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030A0"/>
              </a:gs>
              <a:gs pos="100000">
                <a:srgbClr val="026AFF">
                  <a:alpha val="59000"/>
                </a:srgbClr>
              </a:gs>
            </a:gsLst>
            <a:lin ang="5400000" scaled="1"/>
          </a:gradFill>
          <a:effectLst/>
        </p:spPr>
      </p:pic>
      <p:sp>
        <p:nvSpPr>
          <p:cNvPr id="5" name="副标题 8"/>
          <p:cNvSpPr>
            <a:spLocks noGrp="1"/>
          </p:cNvSpPr>
          <p:nvPr>
            <p:ph type="subTitle" idx="1"/>
          </p:nvPr>
        </p:nvSpPr>
        <p:spPr>
          <a:xfrm>
            <a:off x="352668" y="112370"/>
            <a:ext cx="10277231" cy="714059"/>
          </a:xfrm>
          <a:prstGeom prst="rect">
            <a:avLst/>
          </a:prstGeom>
        </p:spPr>
        <p:txBody>
          <a:bodyPr anchor="ctr"/>
          <a:lstStyle>
            <a:lvl1pPr marL="0" indent="0" algn="l">
              <a:buFontTx/>
              <a:buNone/>
              <a:defRPr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166273" y="200270"/>
            <a:ext cx="45719" cy="480646"/>
          </a:xfrm>
          <a:prstGeom prst="rect">
            <a:avLst/>
          </a:prstGeom>
          <a:gradFill>
            <a:gsLst>
              <a:gs pos="0">
                <a:srgbClr val="7030A0"/>
              </a:gs>
              <a:gs pos="100000">
                <a:srgbClr val="026AFF">
                  <a:alpha val="59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25306" y="173152"/>
            <a:ext cx="1862621" cy="326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演示模板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7030A0"/>
              </a:gs>
              <a:gs pos="100000">
                <a:srgbClr val="026AFF">
                  <a:alpha val="59000"/>
                </a:srgbClr>
              </a:gs>
            </a:gsLst>
            <a:lin ang="5400000" scaled="1"/>
          </a:gradFill>
          <a:effectLst/>
        </p:spPr>
      </p:pic>
      <p:sp>
        <p:nvSpPr>
          <p:cNvPr id="5" name="副标题 8"/>
          <p:cNvSpPr>
            <a:spLocks noGrp="1"/>
          </p:cNvSpPr>
          <p:nvPr>
            <p:ph type="subTitle" idx="1"/>
          </p:nvPr>
        </p:nvSpPr>
        <p:spPr>
          <a:xfrm>
            <a:off x="644768" y="556870"/>
            <a:ext cx="10277231" cy="714059"/>
          </a:xfrm>
          <a:prstGeom prst="rect">
            <a:avLst/>
          </a:prstGeom>
        </p:spPr>
        <p:txBody>
          <a:bodyPr anchor="ctr"/>
          <a:lstStyle>
            <a:lvl1pPr marL="0" indent="0" algn="l">
              <a:buFontTx/>
              <a:buNone/>
              <a:defRPr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458373" y="644770"/>
            <a:ext cx="45719" cy="480646"/>
          </a:xfrm>
          <a:prstGeom prst="rect">
            <a:avLst/>
          </a:prstGeom>
          <a:gradFill>
            <a:gsLst>
              <a:gs pos="0">
                <a:srgbClr val="7030A0"/>
              </a:gs>
              <a:gs pos="100000">
                <a:srgbClr val="026AFF">
                  <a:alpha val="59000"/>
                </a:srgb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125306" y="173152"/>
            <a:ext cx="1862621" cy="326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66726" y="2663884"/>
            <a:ext cx="8754645" cy="923330"/>
          </a:xfrm>
        </p:spPr>
        <p:txBody>
          <a:bodyPr wrap="square" anchor="b">
            <a:normAutofit/>
          </a:bodyPr>
          <a:lstStyle>
            <a:lvl1pPr algn="l">
              <a:defRPr sz="4800" b="1" i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66727" y="660864"/>
            <a:ext cx="1954487" cy="57889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vmlDrawing" Target="../drawings/vmlDrawing1.vml"/><Relationship Id="rId15" Type="http://schemas.openxmlformats.org/officeDocument/2006/relationships/image" Target="../media/image13.emf"/><Relationship Id="rId14" Type="http://schemas.openxmlformats.org/officeDocument/2006/relationships/oleObject" Target="../embeddings/oleObject1.bin"/><Relationship Id="rId13" Type="http://schemas.openxmlformats.org/officeDocument/2006/relationships/tags" Target="../tags/tag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think-cell data - do not delete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A9A43-674D-D248-B5BB-6D577B7C09A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98E54-548E-964E-BCC7-E1A3B3478CD9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.xml"/><Relationship Id="rId8" Type="http://schemas.openxmlformats.org/officeDocument/2006/relationships/image" Target="../media/image14.png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tags" Target="../tags/tag13.xml"/><Relationship Id="rId5" Type="http://schemas.openxmlformats.org/officeDocument/2006/relationships/image" Target="../media/image17.png"/><Relationship Id="rId4" Type="http://schemas.openxmlformats.org/officeDocument/2006/relationships/tags" Target="../tags/tag1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14.xml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15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智能客服助手</a:t>
            </a:r>
            <a:r>
              <a:rPr lang="zh-CN" altLang="en-US" dirty="0">
                <a:cs typeface="+mj-ea"/>
                <a:sym typeface="+mn-ea"/>
              </a:rPr>
              <a:t>丨</a:t>
            </a:r>
            <a:r>
              <a:rPr lang="en-US" altLang="zh-CN" dirty="0"/>
              <a:t>Agent Skill</a:t>
            </a:r>
            <a:r>
              <a:rPr lang="zh-CN" altLang="en-US" dirty="0"/>
              <a:t>能力矩阵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矩形: 圆顶角 36"/>
          <p:cNvSpPr/>
          <p:nvPr>
            <p:custDataLst>
              <p:tags r:id="rId1"/>
            </p:custDataLst>
          </p:nvPr>
        </p:nvSpPr>
        <p:spPr>
          <a:xfrm>
            <a:off x="496570" y="1343482"/>
            <a:ext cx="2579264" cy="4583715"/>
          </a:xfrm>
          <a:prstGeom prst="round2SameRect">
            <a:avLst>
              <a:gd name="adj1" fmla="val 7566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496573" y="1729482"/>
            <a:ext cx="2629528" cy="472672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: 圆顶角 38"/>
          <p:cNvSpPr/>
          <p:nvPr>
            <p:custDataLst>
              <p:tags r:id="rId3"/>
            </p:custDataLst>
          </p:nvPr>
        </p:nvSpPr>
        <p:spPr>
          <a:xfrm>
            <a:off x="2881322" y="926795"/>
            <a:ext cx="8976714" cy="5811304"/>
          </a:xfrm>
          <a:prstGeom prst="round2SameRect">
            <a:avLst>
              <a:gd name="adj1" fmla="val 4373"/>
              <a:gd name="adj2" fmla="val 0"/>
            </a:avLst>
          </a:prstGeom>
          <a:solidFill>
            <a:schemeClr val="accent1"/>
          </a:solidFill>
          <a:ln>
            <a:noFill/>
          </a:ln>
          <a:effectLst>
            <a:outerShdw blurRad="508000" dist="495300" dir="9600000" sx="95000" sy="95000" algn="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Rectangle 53_1"/>
          <p:cNvSpPr/>
          <p:nvPr>
            <p:custDataLst>
              <p:tags r:id="rId4"/>
            </p:custDataLst>
          </p:nvPr>
        </p:nvSpPr>
        <p:spPr>
          <a:xfrm>
            <a:off x="2877043" y="1304024"/>
            <a:ext cx="8993644" cy="54340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文本框 20"/>
          <p:cNvSpPr txBox="1"/>
          <p:nvPr>
            <p:custDataLst>
              <p:tags r:id="rId5"/>
            </p:custDataLst>
          </p:nvPr>
        </p:nvSpPr>
        <p:spPr>
          <a:xfrm>
            <a:off x="3177629" y="935724"/>
            <a:ext cx="137296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解决方案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文本框 21"/>
          <p:cNvSpPr txBox="1"/>
          <p:nvPr>
            <p:custDataLst>
              <p:tags r:id="rId6"/>
            </p:custDataLst>
          </p:nvPr>
        </p:nvSpPr>
        <p:spPr>
          <a:xfrm>
            <a:off x="691946" y="1366621"/>
            <a:ext cx="149836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1379C">
                    <a:alpha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业务背景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1379C">
                  <a:alpha val="75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3" name="文本框 62"/>
          <p:cNvSpPr txBox="1"/>
          <p:nvPr>
            <p:custDataLst>
              <p:tags r:id="rId7"/>
            </p:custDataLst>
          </p:nvPr>
        </p:nvSpPr>
        <p:spPr>
          <a:xfrm>
            <a:off x="574922" y="1776741"/>
            <a:ext cx="222377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b="0" i="0" u="none" strike="noStrike" cap="none" spc="0" normalizeH="0" baseline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fontAlgn="ctr">
              <a:lnSpc>
                <a:spcPct val="150000"/>
              </a:lnSpc>
              <a:defRPr/>
            </a:pP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介绍业务背景、解决的业务痛点</a:t>
            </a:r>
            <a:endParaRPr kumimoji="0" lang="zh-CN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984129" y="1312953"/>
            <a:ext cx="8766123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marR="0" lvl="0" indent="-28575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lvl="0" indent="0" fontAlgn="ctr">
              <a:lnSpc>
                <a:spcPct val="150000"/>
              </a:lnSpc>
              <a:buNone/>
              <a:defRPr/>
            </a:pPr>
            <a:r>
              <a:rPr lang="zh-CN" altLang="en-US" sz="1400" i="1" dirty="0">
                <a:solidFill>
                  <a:srgbClr val="FF0000"/>
                </a:solidFill>
                <a:cs typeface="+mn-ea"/>
                <a:sym typeface="+mn-lt"/>
              </a:rPr>
              <a:t>一段话介绍总体解决方案</a:t>
            </a:r>
            <a:endParaRPr lang="zh-CN" altLang="en-US" sz="1400" i="1" dirty="0">
              <a:solidFill>
                <a:srgbClr val="FF0000"/>
              </a:solidFill>
              <a:cs typeface="+mn-ea"/>
              <a:sym typeface="+mn-lt"/>
            </a:endParaRPr>
          </a:p>
          <a:p>
            <a:pPr marL="0" lvl="0" indent="0" fontAlgn="ctr">
              <a:lnSpc>
                <a:spcPct val="150000"/>
              </a:lnSpc>
              <a:buNone/>
              <a:defRPr/>
            </a:pPr>
            <a:r>
              <a:rPr lang="zh-CN" altLang="en-US" sz="1400" dirty="0">
                <a:cs typeface="+mn-ea"/>
                <a:sym typeface="+mn-lt"/>
              </a:rPr>
              <a:t>面向银行业务打造一站式智能 </a:t>
            </a:r>
            <a:r>
              <a:rPr lang="en-US" altLang="zh-CN" sz="1400" dirty="0">
                <a:cs typeface="+mn-ea"/>
                <a:sym typeface="+mn-lt"/>
              </a:rPr>
              <a:t>AI </a:t>
            </a:r>
            <a:r>
              <a:rPr lang="zh-CN" altLang="en-US" sz="1400" dirty="0">
                <a:cs typeface="+mn-ea"/>
                <a:sym typeface="+mn-lt"/>
              </a:rPr>
              <a:t>开发平台，支持极速创建、上线 </a:t>
            </a:r>
            <a:r>
              <a:rPr lang="en-US" altLang="zh-CN" sz="1400" dirty="0">
                <a:cs typeface="+mn-ea"/>
                <a:sym typeface="+mn-lt"/>
              </a:rPr>
              <a:t>AI </a:t>
            </a:r>
            <a:r>
              <a:rPr lang="zh-CN" altLang="en-US" sz="1400" dirty="0">
                <a:cs typeface="+mn-ea"/>
                <a:sym typeface="+mn-lt"/>
              </a:rPr>
              <a:t>应用，为银行各类业务系统赋能全链路 </a:t>
            </a:r>
            <a:r>
              <a:rPr lang="en-US" altLang="zh-CN" sz="1400" dirty="0">
                <a:cs typeface="+mn-ea"/>
                <a:sym typeface="+mn-lt"/>
              </a:rPr>
              <a:t>AI </a:t>
            </a:r>
            <a:r>
              <a:rPr lang="zh-CN" altLang="en-US" sz="1400" dirty="0">
                <a:cs typeface="+mn-ea"/>
                <a:sym typeface="+mn-lt"/>
              </a:rPr>
              <a:t>处理能力。平台配备完备工具组件，兼容多类大模型并支持开源模型本地化私有化集成，搭载高性能 </a:t>
            </a:r>
            <a:r>
              <a:rPr lang="en-US" altLang="zh-CN" sz="1400" dirty="0">
                <a:cs typeface="+mn-ea"/>
                <a:sym typeface="+mn-lt"/>
              </a:rPr>
              <a:t>RAG </a:t>
            </a:r>
            <a:r>
              <a:rPr lang="zh-CN" altLang="en-US" sz="1400" dirty="0">
                <a:cs typeface="+mn-ea"/>
                <a:sym typeface="+mn-lt"/>
              </a:rPr>
              <a:t>检索引擎、可自定义业务知识库与可视化 </a:t>
            </a:r>
            <a:r>
              <a:rPr lang="en-US" altLang="zh-CN" sz="1400" dirty="0">
                <a:cs typeface="+mn-ea"/>
                <a:sym typeface="+mn-lt"/>
              </a:rPr>
              <a:t>Agent </a:t>
            </a:r>
            <a:r>
              <a:rPr lang="zh-CN" altLang="en-US" sz="1400" dirty="0">
                <a:cs typeface="+mn-ea"/>
                <a:sym typeface="+mn-lt"/>
              </a:rPr>
              <a:t>流程编排能力，助力研发人员高效搭建、投产商用级 </a:t>
            </a:r>
            <a:r>
              <a:rPr lang="en-US" altLang="zh-CN" sz="1400" dirty="0">
                <a:cs typeface="+mn-ea"/>
                <a:sym typeface="+mn-lt"/>
              </a:rPr>
              <a:t>AI </a:t>
            </a:r>
            <a:r>
              <a:rPr lang="zh-CN" altLang="en-US" sz="1400" dirty="0">
                <a:cs typeface="+mn-ea"/>
                <a:sym typeface="+mn-lt"/>
              </a:rPr>
              <a:t>业务应用。目前已落地覆盖自动化测试、</a:t>
            </a:r>
            <a:r>
              <a:rPr lang="en-US" altLang="zh-CN" sz="1400" dirty="0">
                <a:cs typeface="+mn-ea"/>
                <a:sym typeface="+mn-lt"/>
              </a:rPr>
              <a:t>DMS </a:t>
            </a:r>
            <a:r>
              <a:rPr lang="zh-CN" altLang="en-US" sz="1400" dirty="0">
                <a:cs typeface="+mn-ea"/>
                <a:sym typeface="+mn-lt"/>
              </a:rPr>
              <a:t>文档管理、智能问答 </a:t>
            </a:r>
            <a:r>
              <a:rPr lang="en-US" altLang="zh-CN" sz="1400" dirty="0" err="1">
                <a:cs typeface="+mn-ea"/>
                <a:sym typeface="+mn-lt"/>
              </a:rPr>
              <a:t>ChatBot</a:t>
            </a:r>
            <a:r>
              <a:rPr lang="zh-CN" altLang="en-US" sz="1400" dirty="0">
                <a:cs typeface="+mn-ea"/>
                <a:sym typeface="+mn-lt"/>
              </a:rPr>
              <a:t>、智能报告产出、自动化运维部署等多元金融业务场景。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834" y="3051642"/>
            <a:ext cx="7290820" cy="378657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rot="2040000">
            <a:off x="9740265" y="661670"/>
            <a:ext cx="1879600" cy="4381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 anchorCtr="0"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示例</a:t>
            </a:r>
            <a:endParaRPr kumimoji="0" lang="zh-CN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r>
              <a:rPr lang="zh-CN" altLang="en-US" dirty="0"/>
              <a:t>智能客服助手</a:t>
            </a:r>
            <a:r>
              <a:rPr lang="zh-CN" altLang="en-US" dirty="0">
                <a:cs typeface="+mj-ea"/>
                <a:sym typeface="+mn-ea"/>
              </a:rPr>
              <a:t>丨</a:t>
            </a:r>
            <a:r>
              <a:rPr lang="en-US" altLang="zh-CN" dirty="0"/>
              <a:t>Agent Skill</a:t>
            </a:r>
            <a:r>
              <a:rPr lang="zh-CN" altLang="en-US" dirty="0"/>
              <a:t>能力</a:t>
            </a:r>
            <a:r>
              <a:rPr lang="zh-CN" altLang="en-US" dirty="0"/>
              <a:t>总览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1287099" y="1152705"/>
            <a:ext cx="10662280" cy="5074105"/>
            <a:chOff x="470" y="1815"/>
            <a:chExt cx="18268" cy="7991"/>
          </a:xfrm>
        </p:grpSpPr>
        <p:sp>
          <p:nvSpPr>
            <p:cNvPr id="4" name="Rounded Rectangle 2"/>
            <p:cNvSpPr/>
            <p:nvPr/>
          </p:nvSpPr>
          <p:spPr>
            <a:xfrm>
              <a:off x="470" y="1815"/>
              <a:ext cx="4331" cy="866"/>
            </a:xfrm>
            <a:prstGeom prst="roundRect">
              <a:avLst>
                <a:gd name="adj" fmla="val 10000"/>
              </a:avLst>
            </a:prstGeom>
            <a:solidFill>
              <a:srgbClr val="00D3E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微软雅黑" panose="020B0503020204020204" pitchFamily="34" charset="-122"/>
                </a:rPr>
                <a:t>知识与服务基础</a:t>
              </a:r>
              <a:endParaRPr sz="1500" b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8" name="Rounded Rectangle 3"/>
            <p:cNvSpPr/>
            <p:nvPr/>
          </p:nvSpPr>
          <p:spPr>
            <a:xfrm>
              <a:off x="470" y="2839"/>
              <a:ext cx="4331" cy="1811"/>
            </a:xfrm>
            <a:prstGeom prst="roundRect">
              <a:avLst>
                <a:gd name="adj" fmla="val 5000"/>
              </a:avLst>
            </a:prstGeom>
            <a:solidFill>
              <a:srgbClr val="FAFAFA"/>
            </a:solidFill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5"/>
            <p:cNvSpPr txBox="1"/>
            <p:nvPr/>
          </p:nvSpPr>
          <p:spPr>
            <a:xfrm>
              <a:off x="627" y="3588"/>
              <a:ext cx="401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检查回答是否有知识库/</a:t>
              </a:r>
              <a:b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</a:b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制度文件支撑，避免模型幻觉</a:t>
              </a:r>
              <a:endParaRPr sz="1000" b="0">
                <a:solidFill>
                  <a:srgbClr val="262626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Rounded Rectangle 6"/>
            <p:cNvSpPr/>
            <p:nvPr/>
          </p:nvSpPr>
          <p:spPr>
            <a:xfrm>
              <a:off x="470" y="4807"/>
              <a:ext cx="4331" cy="1811"/>
            </a:xfrm>
            <a:prstGeom prst="roundRect">
              <a:avLst>
                <a:gd name="adj" fmla="val 5000"/>
              </a:avLst>
            </a:prstGeom>
            <a:solidFill>
              <a:srgbClr val="FAFAFA"/>
            </a:solidFill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8"/>
            <p:cNvSpPr txBox="1"/>
            <p:nvPr/>
          </p:nvSpPr>
          <p:spPr>
            <a:xfrm>
              <a:off x="627" y="5557"/>
              <a:ext cx="401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BM25+语义向量双路召回，</a:t>
              </a:r>
              <a:b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</a:b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座席</a:t>
              </a: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提问自动检索知识浮层展示</a:t>
              </a:r>
              <a:endParaRPr sz="1000" b="0">
                <a:solidFill>
                  <a:srgbClr val="262626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" name="Rounded Rectangle 9"/>
            <p:cNvSpPr/>
            <p:nvPr/>
          </p:nvSpPr>
          <p:spPr>
            <a:xfrm>
              <a:off x="470" y="6776"/>
              <a:ext cx="4331" cy="1811"/>
            </a:xfrm>
            <a:prstGeom prst="roundRect">
              <a:avLst>
                <a:gd name="adj" fmla="val 5000"/>
              </a:avLst>
            </a:prstGeom>
            <a:solidFill>
              <a:srgbClr val="FAFAFA"/>
            </a:solidFill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0"/>
            <p:cNvSpPr txBox="1"/>
            <p:nvPr/>
          </p:nvSpPr>
          <p:spPr>
            <a:xfrm>
              <a:off x="627" y="6783"/>
              <a:ext cx="4016" cy="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chemeClr val="accent4"/>
                  </a:solidFill>
                  <a:latin typeface="微软雅黑" panose="020B0503020204020204" pitchFamily="34" charset="-122"/>
                </a:rPr>
                <a:t>客户标签聚合</a:t>
              </a:r>
              <a:br>
                <a:rPr sz="1200" b="1">
                  <a:solidFill>
                    <a:schemeClr val="accent4"/>
                  </a:solidFill>
                  <a:latin typeface="微软雅黑" panose="020B0503020204020204" pitchFamily="34" charset="-122"/>
                </a:rPr>
              </a:br>
              <a:r>
                <a:rPr sz="1200" b="1">
                  <a:solidFill>
                    <a:schemeClr val="accent4"/>
                  </a:solidFill>
                  <a:latin typeface="微软雅黑" panose="020B0503020204020204" pitchFamily="34" charset="-122"/>
                </a:rPr>
                <a:t>与画像构建</a:t>
              </a:r>
              <a:endParaRPr sz="1200" b="1">
                <a:solidFill>
                  <a:schemeClr val="accent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" name="TextBox 11"/>
            <p:cNvSpPr txBox="1"/>
            <p:nvPr/>
          </p:nvSpPr>
          <p:spPr>
            <a:xfrm>
              <a:off x="627" y="7525"/>
              <a:ext cx="401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汇总客户信息/偏好/业务标签，</a:t>
              </a:r>
              <a:b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</a:b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CRM实时同步，敏感字段分层脱敏</a:t>
              </a:r>
              <a:endParaRPr sz="1000" b="0">
                <a:solidFill>
                  <a:srgbClr val="262626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7" name="Rounded Rectangle 12"/>
            <p:cNvSpPr/>
            <p:nvPr/>
          </p:nvSpPr>
          <p:spPr>
            <a:xfrm>
              <a:off x="5116" y="1815"/>
              <a:ext cx="4331" cy="866"/>
            </a:xfrm>
            <a:prstGeom prst="roundRect">
              <a:avLst>
                <a:gd name="adj" fmla="val 10000"/>
              </a:avLst>
            </a:prstGeom>
            <a:solidFill>
              <a:srgbClr val="266DE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微软雅黑" panose="020B0503020204020204" pitchFamily="34" charset="-122"/>
                </a:rPr>
                <a:t>实时辅助与话术</a:t>
              </a:r>
              <a:endParaRPr sz="1500" b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8" name="Rounded Rectangle 13"/>
            <p:cNvSpPr/>
            <p:nvPr/>
          </p:nvSpPr>
          <p:spPr>
            <a:xfrm>
              <a:off x="5116" y="2839"/>
              <a:ext cx="4331" cy="1811"/>
            </a:xfrm>
            <a:prstGeom prst="roundRect">
              <a:avLst>
                <a:gd name="adj" fmla="val 5000"/>
              </a:avLst>
            </a:prstGeom>
            <a:solidFill>
              <a:srgbClr val="FAFAFA"/>
            </a:solidFill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n>
                  <a:solidFill>
                    <a:schemeClr val="accent1"/>
                  </a:solidFill>
                </a:ln>
              </a:endParaRPr>
            </a:p>
          </p:txBody>
        </p:sp>
        <p:sp>
          <p:nvSpPr>
            <p:cNvPr id="19" name="TextBox 14"/>
            <p:cNvSpPr txBox="1"/>
            <p:nvPr/>
          </p:nvSpPr>
          <p:spPr>
            <a:xfrm>
              <a:off x="5273" y="2918"/>
              <a:ext cx="4016" cy="43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algn="ctr"/>
              <a:r>
                <a:rPr sz="1200" b="1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</a:rPr>
                <a:t>实时话术推荐</a:t>
              </a:r>
              <a:endParaRPr sz="12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微软雅黑" panose="020B0503020204020204" pitchFamily="34" charset="-122"/>
              </a:endParaRPr>
            </a:p>
          </p:txBody>
        </p:sp>
        <p:sp>
          <p:nvSpPr>
            <p:cNvPr id="20" name="TextBox 15"/>
            <p:cNvSpPr txBox="1"/>
            <p:nvPr/>
          </p:nvSpPr>
          <p:spPr>
            <a:xfrm>
              <a:off x="5273" y="3588"/>
              <a:ext cx="401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基于客户意图与上下文，</a:t>
              </a:r>
              <a:b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</a:b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实时生成话术建议，一键引用</a:t>
              </a:r>
              <a:endParaRPr sz="1000" b="0">
                <a:solidFill>
                  <a:srgbClr val="262626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1" name="Rounded Rectangle 16"/>
            <p:cNvSpPr/>
            <p:nvPr/>
          </p:nvSpPr>
          <p:spPr>
            <a:xfrm>
              <a:off x="5116" y="4807"/>
              <a:ext cx="4331" cy="1811"/>
            </a:xfrm>
            <a:prstGeom prst="roundRect">
              <a:avLst>
                <a:gd name="adj" fmla="val 5000"/>
              </a:avLst>
            </a:prstGeom>
            <a:solidFill>
              <a:srgbClr val="FAFAFA"/>
            </a:solidFill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n>
                  <a:solidFill>
                    <a:schemeClr val="accent1"/>
                  </a:solidFill>
                </a:ln>
              </a:endParaRPr>
            </a:p>
          </p:txBody>
        </p:sp>
        <p:sp>
          <p:nvSpPr>
            <p:cNvPr id="22" name="TextBox 17"/>
            <p:cNvSpPr txBox="1"/>
            <p:nvPr/>
          </p:nvSpPr>
          <p:spPr>
            <a:xfrm>
              <a:off x="5273" y="4886"/>
              <a:ext cx="4016" cy="725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algn="ctr"/>
              <a:r>
                <a:rPr sz="1200" b="1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</a:rPr>
                <a:t>个性化话术</a:t>
              </a:r>
              <a:br>
                <a:rPr sz="1200" b="1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</a:rPr>
              </a:br>
              <a:r>
                <a:rPr sz="1200" b="1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</a:rPr>
                <a:t>动态生成</a:t>
              </a:r>
              <a:endParaRPr sz="12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微软雅黑" panose="020B0503020204020204" pitchFamily="34" charset="-122"/>
              </a:endParaRPr>
            </a:p>
          </p:txBody>
        </p:sp>
        <p:sp>
          <p:nvSpPr>
            <p:cNvPr id="23" name="TextBox 18"/>
            <p:cNvSpPr txBox="1"/>
            <p:nvPr/>
          </p:nvSpPr>
          <p:spPr>
            <a:xfrm>
              <a:off x="5273" y="5583"/>
              <a:ext cx="401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结合客户画像/情绪/场景，</a:t>
              </a:r>
              <a:b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</a:b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动态组合个性化话术，持续优化</a:t>
              </a:r>
              <a:endParaRPr sz="1000" b="0">
                <a:solidFill>
                  <a:srgbClr val="262626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4" name="Rounded Rectangle 19"/>
            <p:cNvSpPr/>
            <p:nvPr/>
          </p:nvSpPr>
          <p:spPr>
            <a:xfrm>
              <a:off x="5116" y="6776"/>
              <a:ext cx="4331" cy="1811"/>
            </a:xfrm>
            <a:prstGeom prst="roundRect">
              <a:avLst>
                <a:gd name="adj" fmla="val 5000"/>
              </a:avLst>
            </a:prstGeom>
            <a:solidFill>
              <a:srgbClr val="FAFAFA"/>
            </a:solidFill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n>
                  <a:solidFill>
                    <a:schemeClr val="accent1"/>
                  </a:solidFill>
                </a:ln>
              </a:endParaRPr>
            </a:p>
          </p:txBody>
        </p:sp>
        <p:sp>
          <p:nvSpPr>
            <p:cNvPr id="25" name="TextBox 20"/>
            <p:cNvSpPr txBox="1"/>
            <p:nvPr/>
          </p:nvSpPr>
          <p:spPr>
            <a:xfrm>
              <a:off x="5273" y="6855"/>
              <a:ext cx="4016" cy="434"/>
            </a:xfrm>
            <a:prstGeom prst="rect">
              <a:avLst/>
            </a:prstGeom>
            <a:no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</a:bodyPr>
            <a:lstStyle/>
            <a:p>
              <a:pPr algn="ctr"/>
              <a:r>
                <a:rPr sz="1200" b="1">
                  <a:solidFill>
                    <a:schemeClr val="accent1">
                      <a:lumMod val="60000"/>
                      <a:lumOff val="4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</a:rPr>
                <a:t>SOP流程导航</a:t>
              </a:r>
              <a:endParaRPr sz="1200" b="1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latin typeface="微软雅黑" panose="020B0503020204020204" pitchFamily="34" charset="-122"/>
              </a:endParaRPr>
            </a:p>
          </p:txBody>
        </p:sp>
        <p:sp>
          <p:nvSpPr>
            <p:cNvPr id="26" name="TextBox 21"/>
            <p:cNvSpPr txBox="1"/>
            <p:nvPr/>
          </p:nvSpPr>
          <p:spPr>
            <a:xfrm>
              <a:off x="5273" y="7551"/>
              <a:ext cx="401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自动激活SOP流程节点，</a:t>
              </a:r>
              <a:b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</a:b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展示步骤/分支/下一步操作</a:t>
              </a:r>
              <a:endParaRPr sz="1000" b="0">
                <a:solidFill>
                  <a:srgbClr val="262626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7" name="Rounded Rectangle 22"/>
            <p:cNvSpPr/>
            <p:nvPr/>
          </p:nvSpPr>
          <p:spPr>
            <a:xfrm>
              <a:off x="9761" y="1815"/>
              <a:ext cx="4331" cy="866"/>
            </a:xfrm>
            <a:prstGeom prst="roundRect">
              <a:avLst>
                <a:gd name="adj" fmla="val 10000"/>
              </a:avLst>
            </a:prstGeom>
            <a:solidFill>
              <a:srgbClr val="908E8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微软雅黑" panose="020B0503020204020204" pitchFamily="34" charset="-122"/>
                </a:rPr>
                <a:t>合规质检与风险管控</a:t>
              </a:r>
              <a:endParaRPr sz="1500" b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Rounded Rectangle 23"/>
            <p:cNvSpPr/>
            <p:nvPr/>
          </p:nvSpPr>
          <p:spPr>
            <a:xfrm>
              <a:off x="9754" y="2839"/>
              <a:ext cx="4338" cy="1811"/>
            </a:xfrm>
            <a:prstGeom prst="roundRect">
              <a:avLst>
                <a:gd name="adj" fmla="val 5000"/>
              </a:avLst>
            </a:prstGeom>
            <a:solidFill>
              <a:srgbClr val="FAFAFA"/>
            </a:solidFill>
            <a:ln w="12700">
              <a:solidFill>
                <a:srgbClr val="908E8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n>
                  <a:solidFill>
                    <a:srgbClr val="908E88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TextBox 24"/>
            <p:cNvSpPr txBox="1"/>
            <p:nvPr/>
          </p:nvSpPr>
          <p:spPr>
            <a:xfrm>
              <a:off x="9919" y="2918"/>
              <a:ext cx="401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908E88"/>
                  </a:solidFill>
                  <a:latin typeface="微软雅黑" panose="020B0503020204020204" pitchFamily="34" charset="-122"/>
                </a:rPr>
                <a:t>合规实时质检</a:t>
              </a:r>
              <a:endParaRPr sz="1200" b="1">
                <a:solidFill>
                  <a:srgbClr val="908E88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1" name="TextBox 25"/>
            <p:cNvSpPr txBox="1"/>
            <p:nvPr/>
          </p:nvSpPr>
          <p:spPr>
            <a:xfrm>
              <a:off x="9919" y="3588"/>
              <a:ext cx="401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实时监测必说话术/</a:t>
              </a:r>
              <a:r>
                <a:rPr lang="zh-CN"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敏感词</a:t>
              </a: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/</a:t>
              </a:r>
              <a:b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</a:b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风险揭示，触发预警</a:t>
              </a:r>
              <a:endParaRPr sz="1000" b="0">
                <a:solidFill>
                  <a:srgbClr val="262626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2" name="Rounded Rectangle 26"/>
            <p:cNvSpPr/>
            <p:nvPr/>
          </p:nvSpPr>
          <p:spPr>
            <a:xfrm>
              <a:off x="9761" y="4807"/>
              <a:ext cx="4331" cy="1811"/>
            </a:xfrm>
            <a:prstGeom prst="roundRect">
              <a:avLst>
                <a:gd name="adj" fmla="val 5000"/>
              </a:avLst>
            </a:prstGeom>
            <a:solidFill>
              <a:srgbClr val="FAFAFA"/>
            </a:solidFill>
            <a:ln w="12700">
              <a:solidFill>
                <a:srgbClr val="908E8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n>
                  <a:solidFill>
                    <a:srgbClr val="908E88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43" name="TextBox 27"/>
            <p:cNvSpPr txBox="1"/>
            <p:nvPr/>
          </p:nvSpPr>
          <p:spPr>
            <a:xfrm>
              <a:off x="9919" y="4886"/>
              <a:ext cx="4016" cy="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908E88"/>
                  </a:solidFill>
                  <a:latin typeface="微软雅黑" panose="020B0503020204020204" pitchFamily="34" charset="-122"/>
                </a:rPr>
                <a:t>客户情绪实时</a:t>
              </a:r>
              <a:br>
                <a:rPr sz="1200" b="1">
                  <a:solidFill>
                    <a:srgbClr val="908E88"/>
                  </a:solidFill>
                  <a:latin typeface="微软雅黑" panose="020B0503020204020204" pitchFamily="34" charset="-122"/>
                </a:rPr>
              </a:br>
              <a:r>
                <a:rPr sz="1200" b="1">
                  <a:solidFill>
                    <a:srgbClr val="908E88"/>
                  </a:solidFill>
                  <a:latin typeface="微软雅黑" panose="020B0503020204020204" pitchFamily="34" charset="-122"/>
                </a:rPr>
                <a:t>识别与预警</a:t>
              </a:r>
              <a:endParaRPr sz="1200" b="1">
                <a:solidFill>
                  <a:srgbClr val="908E88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4" name="TextBox 28"/>
            <p:cNvSpPr txBox="1"/>
            <p:nvPr/>
          </p:nvSpPr>
          <p:spPr>
            <a:xfrm>
              <a:off x="9919" y="5583"/>
              <a:ext cx="401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语音+文本多模态识别情绪，</a:t>
              </a:r>
              <a:b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</a:b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负向情绪</a:t>
              </a:r>
              <a:r>
                <a:rPr lang="zh-CN"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及时</a:t>
              </a: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预警通知班长</a:t>
              </a:r>
              <a:endParaRPr sz="1000" b="0">
                <a:solidFill>
                  <a:srgbClr val="262626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5" name="Rounded Rectangle 29"/>
            <p:cNvSpPr/>
            <p:nvPr/>
          </p:nvSpPr>
          <p:spPr>
            <a:xfrm>
              <a:off x="9761" y="6783"/>
              <a:ext cx="4331" cy="1835"/>
            </a:xfrm>
            <a:prstGeom prst="roundRect">
              <a:avLst>
                <a:gd name="adj" fmla="val 5000"/>
              </a:avLst>
            </a:prstGeom>
            <a:solidFill>
              <a:srgbClr val="FAFAFA"/>
            </a:solidFill>
            <a:ln w="12700">
              <a:solidFill>
                <a:srgbClr val="908E8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n>
                  <a:solidFill>
                    <a:srgbClr val="908E88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46" name="TextBox 30"/>
            <p:cNvSpPr txBox="1"/>
            <p:nvPr/>
          </p:nvSpPr>
          <p:spPr>
            <a:xfrm>
              <a:off x="9919" y="6862"/>
              <a:ext cx="4016" cy="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908E88"/>
                  </a:solidFill>
                  <a:latin typeface="微软雅黑" panose="020B0503020204020204" pitchFamily="34" charset="-122"/>
                </a:rPr>
                <a:t>座席语速与</a:t>
              </a:r>
              <a:br>
                <a:rPr sz="1200" b="1">
                  <a:solidFill>
                    <a:srgbClr val="908E88"/>
                  </a:solidFill>
                  <a:latin typeface="微软雅黑" panose="020B0503020204020204" pitchFamily="34" charset="-122"/>
                </a:rPr>
              </a:br>
              <a:r>
                <a:rPr sz="1200" b="1">
                  <a:solidFill>
                    <a:srgbClr val="908E88"/>
                  </a:solidFill>
                  <a:latin typeface="微软雅黑" panose="020B0503020204020204" pitchFamily="34" charset="-122"/>
                </a:rPr>
                <a:t>音量检测</a:t>
              </a:r>
              <a:endParaRPr sz="1200" b="1">
                <a:solidFill>
                  <a:srgbClr val="908E88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7" name="TextBox 31"/>
            <p:cNvSpPr txBox="1"/>
            <p:nvPr/>
          </p:nvSpPr>
          <p:spPr>
            <a:xfrm>
              <a:off x="9919" y="7596"/>
              <a:ext cx="401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ASR实时计算语速过快</a:t>
              </a:r>
              <a:endParaRPr sz="1000" b="0">
                <a:solidFill>
                  <a:srgbClr val="262626"/>
                </a:solidFill>
                <a:latin typeface="微软雅黑" panose="020B0503020204020204" pitchFamily="34" charset="-122"/>
              </a:endParaRPr>
            </a:p>
            <a:p>
              <a:pPr algn="ctr"/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/</a:t>
              </a:r>
              <a:r>
                <a:rPr lang="zh-CN"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音量</a:t>
              </a: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偏高时提示座席自我调节</a:t>
              </a:r>
              <a:endParaRPr sz="1000" b="0">
                <a:solidFill>
                  <a:srgbClr val="262626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1" name="Rounded Rectangle 35"/>
            <p:cNvSpPr/>
            <p:nvPr/>
          </p:nvSpPr>
          <p:spPr>
            <a:xfrm>
              <a:off x="14407" y="1815"/>
              <a:ext cx="4331" cy="866"/>
            </a:xfrm>
            <a:prstGeom prst="roundRect">
              <a:avLst>
                <a:gd name="adj" fmla="val 10000"/>
              </a:avLst>
            </a:prstGeom>
            <a:solidFill>
              <a:srgbClr val="048AE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500" b="1">
                  <a:solidFill>
                    <a:srgbClr val="FFFFFF"/>
                  </a:solidFill>
                  <a:latin typeface="微软雅黑" panose="020B0503020204020204" pitchFamily="34" charset="-122"/>
                </a:rPr>
                <a:t>话后处理与提效</a:t>
              </a:r>
              <a:endParaRPr sz="1500" b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2" name="Rounded Rectangle 36"/>
            <p:cNvSpPr/>
            <p:nvPr/>
          </p:nvSpPr>
          <p:spPr>
            <a:xfrm>
              <a:off x="14407" y="2839"/>
              <a:ext cx="4331" cy="1811"/>
            </a:xfrm>
            <a:prstGeom prst="roundRect">
              <a:avLst>
                <a:gd name="adj" fmla="val 5000"/>
              </a:avLst>
            </a:prstGeom>
            <a:solidFill>
              <a:srgbClr val="FAFAFA"/>
            </a:solidFill>
            <a:ln w="12700">
              <a:solidFill>
                <a:srgbClr val="048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TextBox 37"/>
            <p:cNvSpPr txBox="1"/>
            <p:nvPr/>
          </p:nvSpPr>
          <p:spPr>
            <a:xfrm>
              <a:off x="14564" y="2918"/>
              <a:ext cx="401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048AE3"/>
                  </a:solidFill>
                  <a:latin typeface="微软雅黑" panose="020B0503020204020204" pitchFamily="34" charset="-122"/>
                </a:rPr>
                <a:t>智能小结生成</a:t>
              </a:r>
              <a:endParaRPr sz="1200" b="1">
                <a:solidFill>
                  <a:srgbClr val="048AE3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4" name="TextBox 38"/>
            <p:cNvSpPr txBox="1"/>
            <p:nvPr/>
          </p:nvSpPr>
          <p:spPr>
            <a:xfrm>
              <a:off x="14564" y="3588"/>
              <a:ext cx="401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通话后自动抽取诉求/过程/</a:t>
              </a:r>
              <a:b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</a:b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结果/待办，生成结构化小结</a:t>
              </a:r>
              <a:endParaRPr sz="1000" b="0">
                <a:solidFill>
                  <a:srgbClr val="262626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8" name="Rounded Rectangle 42"/>
            <p:cNvSpPr/>
            <p:nvPr/>
          </p:nvSpPr>
          <p:spPr>
            <a:xfrm>
              <a:off x="14407" y="4807"/>
              <a:ext cx="4331" cy="1808"/>
            </a:xfrm>
            <a:prstGeom prst="roundRect">
              <a:avLst>
                <a:gd name="adj" fmla="val 5000"/>
              </a:avLst>
            </a:prstGeom>
            <a:solidFill>
              <a:srgbClr val="FAFAFA"/>
            </a:solidFill>
            <a:ln w="12700">
              <a:solidFill>
                <a:srgbClr val="048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TextBox 43"/>
            <p:cNvSpPr txBox="1"/>
            <p:nvPr/>
          </p:nvSpPr>
          <p:spPr>
            <a:xfrm>
              <a:off x="14564" y="4886"/>
              <a:ext cx="4016" cy="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048AE3"/>
                  </a:solidFill>
                  <a:latin typeface="微软雅黑" panose="020B0503020204020204" pitchFamily="34" charset="-122"/>
                </a:rPr>
                <a:t>工单要素</a:t>
              </a:r>
              <a:br>
                <a:rPr sz="1200" b="1">
                  <a:solidFill>
                    <a:srgbClr val="048AE3"/>
                  </a:solidFill>
                  <a:latin typeface="微软雅黑" panose="020B0503020204020204" pitchFamily="34" charset="-122"/>
                </a:rPr>
              </a:br>
              <a:r>
                <a:rPr sz="1200" b="1">
                  <a:solidFill>
                    <a:srgbClr val="048AE3"/>
                  </a:solidFill>
                  <a:latin typeface="微软雅黑" panose="020B0503020204020204" pitchFamily="34" charset="-122"/>
                </a:rPr>
                <a:t>智能抽取与预填</a:t>
              </a:r>
              <a:endParaRPr sz="1200" b="1">
                <a:solidFill>
                  <a:srgbClr val="048AE3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0" name="TextBox 44"/>
            <p:cNvSpPr txBox="1"/>
            <p:nvPr/>
          </p:nvSpPr>
          <p:spPr>
            <a:xfrm>
              <a:off x="14564" y="5583"/>
              <a:ext cx="4016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NER+字段映射提取关键信息，</a:t>
              </a:r>
              <a:br>
                <a:rPr sz="900" b="0">
                  <a:solidFill>
                    <a:srgbClr val="262626"/>
                  </a:solidFill>
                  <a:latin typeface="微软雅黑" panose="020B0503020204020204" pitchFamily="34" charset="-122"/>
                </a:rPr>
              </a:br>
              <a:r>
                <a:rPr sz="9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工单填写≤1.5分钟(↓50%)</a:t>
              </a:r>
              <a:endParaRPr sz="900" b="0">
                <a:solidFill>
                  <a:srgbClr val="262626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1" name="Rounded Rectangle 45"/>
            <p:cNvSpPr/>
            <p:nvPr/>
          </p:nvSpPr>
          <p:spPr>
            <a:xfrm>
              <a:off x="14407" y="6777"/>
              <a:ext cx="4331" cy="1853"/>
            </a:xfrm>
            <a:prstGeom prst="roundRect">
              <a:avLst>
                <a:gd name="adj" fmla="val 5000"/>
              </a:avLst>
            </a:prstGeom>
            <a:solidFill>
              <a:srgbClr val="FAFAFA"/>
            </a:solidFill>
            <a:ln w="12700">
              <a:solidFill>
                <a:srgbClr val="048A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TextBox 46"/>
            <p:cNvSpPr txBox="1"/>
            <p:nvPr/>
          </p:nvSpPr>
          <p:spPr>
            <a:xfrm>
              <a:off x="14564" y="6934"/>
              <a:ext cx="401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200" b="1">
                  <a:solidFill>
                    <a:srgbClr val="048AE3"/>
                  </a:solidFill>
                  <a:latin typeface="微软雅黑" panose="020B0503020204020204" pitchFamily="34" charset="-122"/>
                </a:rPr>
                <a:t>话后任务编排</a:t>
              </a:r>
              <a:endParaRPr sz="1200" b="1">
                <a:solidFill>
                  <a:srgbClr val="048AE3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3" name="TextBox 47"/>
            <p:cNvSpPr txBox="1"/>
            <p:nvPr/>
          </p:nvSpPr>
          <p:spPr>
            <a:xfrm>
              <a:off x="14564" y="7611"/>
              <a:ext cx="4016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自动识别联络类型匹配模板，</a:t>
              </a:r>
              <a:b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</a:br>
              <a:r>
                <a:rPr sz="1000" b="0">
                  <a:solidFill>
                    <a:srgbClr val="262626"/>
                  </a:solidFill>
                  <a:latin typeface="微软雅黑" panose="020B0503020204020204" pitchFamily="34" charset="-122"/>
                </a:rPr>
                <a:t>并行生成小结与工单预填</a:t>
              </a:r>
              <a:endParaRPr sz="1000" b="0">
                <a:solidFill>
                  <a:srgbClr val="262626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2" name="TextBox 10"/>
            <p:cNvSpPr txBox="1"/>
            <p:nvPr/>
          </p:nvSpPr>
          <p:spPr>
            <a:xfrm>
              <a:off x="785" y="4887"/>
              <a:ext cx="401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200" b="1">
                  <a:solidFill>
                    <a:schemeClr val="accent4"/>
                  </a:solidFill>
                  <a:latin typeface="微软雅黑" panose="020B0503020204020204" pitchFamily="34" charset="-122"/>
                </a:rPr>
                <a:t>知识随行</a:t>
              </a:r>
              <a:r>
                <a:rPr lang="zh-CN" sz="1200" b="1">
                  <a:solidFill>
                    <a:schemeClr val="accent4"/>
                  </a:solidFill>
                  <a:latin typeface="微软雅黑" panose="020B0503020204020204" pitchFamily="34" charset="-122"/>
                </a:rPr>
                <a:t>检索</a:t>
              </a:r>
              <a:endParaRPr lang="zh-CN" sz="1200" b="1">
                <a:solidFill>
                  <a:schemeClr val="accent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3" name="TextBox 10"/>
            <p:cNvSpPr txBox="1"/>
            <p:nvPr/>
          </p:nvSpPr>
          <p:spPr>
            <a:xfrm>
              <a:off x="785" y="2918"/>
              <a:ext cx="4016" cy="4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sz="1200" b="1">
                  <a:solidFill>
                    <a:schemeClr val="accent4"/>
                  </a:solidFill>
                  <a:latin typeface="微软雅黑" panose="020B0503020204020204" pitchFamily="34" charset="-122"/>
                </a:rPr>
                <a:t>知识依据</a:t>
              </a:r>
              <a:r>
                <a:rPr lang="zh-CN" sz="1200" b="1">
                  <a:solidFill>
                    <a:schemeClr val="accent4"/>
                  </a:solidFill>
                  <a:latin typeface="微软雅黑" panose="020B0503020204020204" pitchFamily="34" charset="-122"/>
                </a:rPr>
                <a:t>校验</a:t>
              </a:r>
              <a:endParaRPr lang="zh-CN" sz="1200" b="1">
                <a:solidFill>
                  <a:schemeClr val="accent4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4" name="Rounded Rectangle 14"/>
            <p:cNvSpPr/>
            <p:nvPr/>
          </p:nvSpPr>
          <p:spPr>
            <a:xfrm>
              <a:off x="470" y="9019"/>
              <a:ext cx="18267" cy="787"/>
            </a:xfrm>
            <a:prstGeom prst="roundRect">
              <a:avLst>
                <a:gd name="adj" fmla="val 10000"/>
              </a:avLst>
            </a:prstGeom>
            <a:solidFill>
              <a:srgbClr val="F0F0F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r>
                <a:rPr sz="1300" b="1">
                  <a:solidFill>
                    <a:srgbClr val="33378D"/>
                  </a:solidFill>
                  <a:latin typeface="微软雅黑" panose="020B0503020204020204" pitchFamily="34" charset="-122"/>
                </a:rPr>
                <a:t>核心设计原则：知识溯源防幻觉 · 实时辅助降延迟 · 合规风控全覆盖 · 话后自动化提效率 · 敏感信息分层脱敏</a:t>
              </a:r>
              <a:endParaRPr sz="1300" b="1">
                <a:solidFill>
                  <a:srgbClr val="33378D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 rot="2040000">
            <a:off x="9740265" y="1051560"/>
            <a:ext cx="1879600" cy="438150"/>
          </a:xfrm>
          <a:prstGeom prst="rect">
            <a:avLst/>
          </a:prstGeom>
          <a:solidFill>
            <a:srgbClr val="FFFF00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 anchorCtr="0"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示例</a:t>
            </a:r>
            <a:endParaRPr kumimoji="0" lang="zh-CN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6200" y="1243965"/>
            <a:ext cx="960755" cy="532130"/>
          </a:xfrm>
          <a:prstGeom prst="rect">
            <a:avLst/>
          </a:prstGeom>
          <a:noFill/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 anchorCtr="0"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Agent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40335" y="3206115"/>
            <a:ext cx="960755" cy="532130"/>
          </a:xfrm>
          <a:prstGeom prst="rect">
            <a:avLst/>
          </a:prstGeom>
          <a:noFill/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 anchorCtr="0"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skill</a:t>
            </a:r>
            <a:endParaRPr kumimoji="0" lang="en-US" altLang="zh-CN" sz="20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140335" y="675005"/>
            <a:ext cx="629348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b="0" i="0" u="none" strike="noStrike" cap="none" spc="0" normalizeH="0" baseline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fontAlgn="ctr">
              <a:lnSpc>
                <a:spcPct val="150000"/>
              </a:lnSpc>
              <a:defRPr/>
            </a:pP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介绍有哪些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agent </a:t>
            </a: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skill</a:t>
            </a:r>
            <a:endParaRPr kumimoji="0" lang="en-US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+mn-ea"/>
              </a:rPr>
              <a:t>智能客服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+mn-ea"/>
              </a:rPr>
              <a:t>助手丨技术架构与能力分层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j-ea"/>
              <a:sym typeface="+mn-ea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+mj-ea"/>
              <a:sym typeface="+mn-ea"/>
            </a:endParaRPr>
          </a:p>
        </p:txBody>
      </p:sp>
      <p:sp>
        <p:nvSpPr>
          <p:cNvPr id="5" name="Rounded Rectangle 2"/>
          <p:cNvSpPr/>
          <p:nvPr/>
        </p:nvSpPr>
        <p:spPr>
          <a:xfrm>
            <a:off x="400000" y="1100000"/>
            <a:ext cx="11400000" cy="500000"/>
          </a:xfrm>
          <a:prstGeom prst="roundRect">
            <a:avLst>
              <a:gd name="adj" fmla="val 6000"/>
            </a:avLst>
          </a:prstGeom>
          <a:solidFill>
            <a:srgbClr val="1B4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</a:rPr>
              <a:t>应用层 ｜ 呼入客服 · 呼出营销 · 在线客服 · 视频客服 · 多渠道接入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ounded Rectangle 3"/>
          <p:cNvSpPr/>
          <p:nvPr/>
        </p:nvSpPr>
        <p:spPr>
          <a:xfrm>
            <a:off x="400000" y="1700000"/>
            <a:ext cx="11400000" cy="450000"/>
          </a:xfrm>
          <a:prstGeom prst="roundRect">
            <a:avLst>
              <a:gd name="adj" fmla="val 6000"/>
            </a:avLst>
          </a:prstGeom>
          <a:solidFill>
            <a:srgbClr val="DF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</a:rPr>
              <a:t>编排层 ｜ 话后任务编排 · 个性化话术动态生成 · SOP流程导航 · 对话策略管理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Rounded Rectangle 4"/>
          <p:cNvSpPr/>
          <p:nvPr/>
        </p:nvSpPr>
        <p:spPr>
          <a:xfrm>
            <a:off x="400000" y="2250000"/>
            <a:ext cx="11400000" cy="500000"/>
          </a:xfrm>
          <a:prstGeom prst="roundRect">
            <a:avLst>
              <a:gd name="adj" fmla="val 4000"/>
            </a:avLst>
          </a:prstGeom>
          <a:solidFill>
            <a:srgbClr val="266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</a:rPr>
              <a:t>AI业务能力中台</a:t>
            </a:r>
            <a:endParaRPr sz="1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Rounded Rectangle 5"/>
          <p:cNvSpPr/>
          <p:nvPr/>
        </p:nvSpPr>
        <p:spPr>
          <a:xfrm>
            <a:off x="500000" y="2850000"/>
            <a:ext cx="1200000" cy="700000"/>
          </a:xfrm>
          <a:prstGeom prst="roundRect">
            <a:avLst>
              <a:gd name="adj" fmla="val 8000"/>
            </a:avLst>
          </a:prstGeom>
          <a:solidFill>
            <a:srgbClr val="266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6"/>
          <p:cNvSpPr txBox="1"/>
          <p:nvPr/>
        </p:nvSpPr>
        <p:spPr>
          <a:xfrm>
            <a:off x="500000" y="2950000"/>
            <a:ext cx="1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</a:rPr>
              <a:t>知识随行</a:t>
            </a:r>
            <a:br>
              <a:rPr sz="1100" b="1">
                <a:solidFill>
                  <a:srgbClr val="FFFFFF"/>
                </a:solidFill>
                <a:latin typeface="微软雅黑" panose="020B0503020204020204" pitchFamily="34" charset="-122"/>
              </a:rPr>
            </a:b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</a:rPr>
              <a:t>检索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TextBox 7"/>
          <p:cNvSpPr txBox="1"/>
          <p:nvPr/>
        </p:nvSpPr>
        <p:spPr>
          <a:xfrm>
            <a:off x="500000" y="3300000"/>
            <a:ext cx="1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 panose="020B0503020204020204" pitchFamily="34" charset="-122"/>
              </a:rPr>
              <a:t>RAG</a:t>
            </a:r>
            <a:endParaRPr sz="8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Rounded Rectangle 8"/>
          <p:cNvSpPr/>
          <p:nvPr/>
        </p:nvSpPr>
        <p:spPr>
          <a:xfrm>
            <a:off x="1760000" y="2850000"/>
            <a:ext cx="1200000" cy="700000"/>
          </a:xfrm>
          <a:prstGeom prst="roundRect">
            <a:avLst>
              <a:gd name="adj" fmla="val 8000"/>
            </a:avLst>
          </a:prstGeom>
          <a:solidFill>
            <a:srgbClr val="DF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9"/>
          <p:cNvSpPr txBox="1"/>
          <p:nvPr/>
        </p:nvSpPr>
        <p:spPr>
          <a:xfrm>
            <a:off x="1760000" y="2950000"/>
            <a:ext cx="1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</a:rPr>
              <a:t>实时话术</a:t>
            </a:r>
            <a:br>
              <a:rPr sz="1100" b="1">
                <a:solidFill>
                  <a:srgbClr val="FFFFFF"/>
                </a:solidFill>
                <a:latin typeface="微软雅黑" panose="020B0503020204020204" pitchFamily="34" charset="-122"/>
              </a:rPr>
            </a:b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</a:rPr>
              <a:t>推荐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2" name="TextBox 10"/>
          <p:cNvSpPr txBox="1"/>
          <p:nvPr/>
        </p:nvSpPr>
        <p:spPr>
          <a:xfrm>
            <a:off x="1760000" y="3300000"/>
            <a:ext cx="1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 panose="020B0503020204020204" pitchFamily="34" charset="-122"/>
              </a:rPr>
              <a:t>生成式</a:t>
            </a:r>
            <a:endParaRPr sz="8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Rounded Rectangle 11"/>
          <p:cNvSpPr/>
          <p:nvPr/>
        </p:nvSpPr>
        <p:spPr>
          <a:xfrm>
            <a:off x="3020000" y="2850000"/>
            <a:ext cx="1200000" cy="700000"/>
          </a:xfrm>
          <a:prstGeom prst="roundRect">
            <a:avLst>
              <a:gd name="adj" fmla="val 8000"/>
            </a:avLst>
          </a:prstGeom>
          <a:solidFill>
            <a:srgbClr val="DF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12"/>
          <p:cNvSpPr txBox="1"/>
          <p:nvPr/>
        </p:nvSpPr>
        <p:spPr>
          <a:xfrm>
            <a:off x="3020000" y="2950000"/>
            <a:ext cx="12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微软雅黑" panose="020B0503020204020204" pitchFamily="34" charset="-122"/>
              </a:rPr>
              <a:t>流程</a:t>
            </a:r>
            <a:r>
              <a:rPr lang="zh-CN" sz="1100" b="1">
                <a:solidFill>
                  <a:srgbClr val="FFFFFF"/>
                </a:solidFill>
                <a:latin typeface="微软雅黑" panose="020B0503020204020204" pitchFamily="34" charset="-122"/>
              </a:rPr>
              <a:t>导航</a:t>
            </a:r>
            <a:endParaRPr lang="zh-CN" sz="1100" b="1">
              <a:solidFill>
                <a:srgbClr val="FFFFFF"/>
              </a:solidFill>
              <a:latin typeface="微软雅黑" panose="020B0503020204020204" pitchFamily="34" charset="-122"/>
            </a:endParaRPr>
          </a:p>
          <a:p>
            <a:pPr algn="ctr"/>
            <a:r>
              <a:rPr lang="zh-CN" sz="1100" b="1">
                <a:solidFill>
                  <a:srgbClr val="FFFFFF"/>
                </a:solidFill>
                <a:latin typeface="微软雅黑" panose="020B0503020204020204" pitchFamily="34" charset="-122"/>
              </a:rPr>
              <a:t>推荐</a:t>
            </a:r>
            <a:endParaRPr lang="zh-CN" sz="11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2" name="TextBox 13"/>
          <p:cNvSpPr txBox="1"/>
          <p:nvPr/>
        </p:nvSpPr>
        <p:spPr>
          <a:xfrm>
            <a:off x="3020000" y="3300000"/>
            <a:ext cx="12000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800" b="0">
                <a:solidFill>
                  <a:srgbClr val="FFFFFF"/>
                </a:solidFill>
                <a:latin typeface="微软雅黑" panose="020B0503020204020204" pitchFamily="34" charset="-122"/>
              </a:rPr>
              <a:t>流程</a:t>
            </a:r>
            <a:r>
              <a:rPr lang="zh-CN" sz="800" b="0">
                <a:solidFill>
                  <a:srgbClr val="FFFFFF"/>
                </a:solidFill>
                <a:latin typeface="微软雅黑" panose="020B0503020204020204" pitchFamily="34" charset="-122"/>
              </a:rPr>
              <a:t>编排</a:t>
            </a:r>
            <a:endParaRPr lang="zh-CN" sz="8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3" name="Rounded Rectangle 14"/>
          <p:cNvSpPr/>
          <p:nvPr/>
        </p:nvSpPr>
        <p:spPr>
          <a:xfrm>
            <a:off x="4280000" y="2850000"/>
            <a:ext cx="1200000" cy="7000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15"/>
          <p:cNvSpPr txBox="1"/>
          <p:nvPr/>
        </p:nvSpPr>
        <p:spPr>
          <a:xfrm>
            <a:off x="4280000" y="2950000"/>
            <a:ext cx="12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sym typeface="+mn-ea"/>
              </a:rPr>
              <a:t>客户情绪</a:t>
            </a:r>
            <a:br>
              <a:rPr sz="1100" b="1">
                <a:solidFill>
                  <a:srgbClr val="FFFFFF"/>
                </a:solidFill>
                <a:latin typeface="微软雅黑" panose="020B0503020204020204" pitchFamily="34" charset="-122"/>
                <a:sym typeface="+mn-ea"/>
              </a:rPr>
            </a:b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sym typeface="+mn-ea"/>
              </a:rPr>
              <a:t>识别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5" name="TextBox 16"/>
          <p:cNvSpPr txBox="1"/>
          <p:nvPr/>
        </p:nvSpPr>
        <p:spPr>
          <a:xfrm>
            <a:off x="4280000" y="3300000"/>
            <a:ext cx="12000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微软雅黑" panose="020B0503020204020204" pitchFamily="34" charset="-122"/>
                <a:sym typeface="+mn-ea"/>
              </a:rPr>
              <a:t>多模态</a:t>
            </a:r>
            <a:endParaRPr sz="8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6" name="Rounded Rectangle 17"/>
          <p:cNvSpPr/>
          <p:nvPr/>
        </p:nvSpPr>
        <p:spPr>
          <a:xfrm>
            <a:off x="5540000" y="2850000"/>
            <a:ext cx="1200000" cy="7000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18"/>
          <p:cNvSpPr txBox="1"/>
          <p:nvPr/>
        </p:nvSpPr>
        <p:spPr>
          <a:xfrm>
            <a:off x="5540000" y="2950000"/>
            <a:ext cx="12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sym typeface="+mn-ea"/>
              </a:rPr>
              <a:t>合规实时</a:t>
            </a:r>
            <a:br>
              <a:rPr sz="1100" b="1">
                <a:solidFill>
                  <a:srgbClr val="FFFFFF"/>
                </a:solidFill>
                <a:latin typeface="微软雅黑" panose="020B0503020204020204" pitchFamily="34" charset="-122"/>
                <a:sym typeface="+mn-ea"/>
              </a:rPr>
            </a:b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sym typeface="+mn-ea"/>
              </a:rPr>
              <a:t>质检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9" name="TextBox 19"/>
          <p:cNvSpPr txBox="1"/>
          <p:nvPr/>
        </p:nvSpPr>
        <p:spPr>
          <a:xfrm>
            <a:off x="5540000" y="3300000"/>
            <a:ext cx="12000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FFFFFF"/>
                </a:solidFill>
                <a:latin typeface="微软雅黑" panose="020B0503020204020204" pitchFamily="34" charset="-122"/>
                <a:sym typeface="+mn-ea"/>
              </a:rPr>
              <a:t>规则+LLM</a:t>
            </a:r>
            <a:endParaRPr sz="8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0" name="Rounded Rectangle 20"/>
          <p:cNvSpPr/>
          <p:nvPr/>
        </p:nvSpPr>
        <p:spPr>
          <a:xfrm>
            <a:off x="6800000" y="2850000"/>
            <a:ext cx="1200000" cy="700000"/>
          </a:xfrm>
          <a:prstGeom prst="roundRect">
            <a:avLst>
              <a:gd name="adj" fmla="val 8000"/>
            </a:avLst>
          </a:prstGeom>
          <a:solidFill>
            <a:srgbClr val="00D3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21"/>
          <p:cNvSpPr txBox="1"/>
          <p:nvPr/>
        </p:nvSpPr>
        <p:spPr>
          <a:xfrm>
            <a:off x="6800000" y="2950000"/>
            <a:ext cx="12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微软雅黑" panose="020B0503020204020204" pitchFamily="34" charset="-122"/>
                <a:sym typeface="+mn-ea"/>
              </a:rPr>
              <a:t>实时监控</a:t>
            </a:r>
            <a:endParaRPr lang="zh-CN" sz="1100" b="1">
              <a:solidFill>
                <a:srgbClr val="FFFFFF"/>
              </a:solidFill>
              <a:latin typeface="微软雅黑" panose="020B0503020204020204" pitchFamily="34" charset="-122"/>
            </a:endParaRPr>
          </a:p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  <a:sym typeface="+mn-ea"/>
              </a:rPr>
              <a:t>预警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2" name="TextBox 22"/>
          <p:cNvSpPr txBox="1"/>
          <p:nvPr/>
        </p:nvSpPr>
        <p:spPr>
          <a:xfrm>
            <a:off x="6800000" y="3300000"/>
            <a:ext cx="1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 panose="020B0503020204020204" pitchFamily="34" charset="-122"/>
              </a:rPr>
              <a:t>多模态</a:t>
            </a:r>
            <a:endParaRPr sz="8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3" name="Rounded Rectangle 23"/>
          <p:cNvSpPr/>
          <p:nvPr/>
        </p:nvSpPr>
        <p:spPr>
          <a:xfrm>
            <a:off x="8060000" y="2850000"/>
            <a:ext cx="1200000" cy="700000"/>
          </a:xfrm>
          <a:prstGeom prst="roundRect">
            <a:avLst>
              <a:gd name="adj" fmla="val 8000"/>
            </a:avLst>
          </a:prstGeom>
          <a:solidFill>
            <a:srgbClr val="778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24"/>
          <p:cNvSpPr txBox="1"/>
          <p:nvPr/>
        </p:nvSpPr>
        <p:spPr>
          <a:xfrm>
            <a:off x="8060000" y="2950000"/>
            <a:ext cx="1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</a:rPr>
              <a:t>联络小结</a:t>
            </a:r>
            <a:br>
              <a:rPr sz="1100" b="1">
                <a:solidFill>
                  <a:srgbClr val="FFFFFF"/>
                </a:solidFill>
                <a:latin typeface="微软雅黑" panose="020B0503020204020204" pitchFamily="34" charset="-122"/>
              </a:rPr>
            </a:b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</a:rPr>
              <a:t>结构化生成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5" name="TextBox 25"/>
          <p:cNvSpPr txBox="1"/>
          <p:nvPr/>
        </p:nvSpPr>
        <p:spPr>
          <a:xfrm>
            <a:off x="8060000" y="3300000"/>
            <a:ext cx="1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 panose="020B0503020204020204" pitchFamily="34" charset="-122"/>
              </a:rPr>
              <a:t>生成式</a:t>
            </a:r>
            <a:endParaRPr sz="8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6" name="Rounded Rectangle 26"/>
          <p:cNvSpPr/>
          <p:nvPr/>
        </p:nvSpPr>
        <p:spPr>
          <a:xfrm>
            <a:off x="9320000" y="2850000"/>
            <a:ext cx="1200000" cy="700000"/>
          </a:xfrm>
          <a:prstGeom prst="roundRect">
            <a:avLst>
              <a:gd name="adj" fmla="val 8000"/>
            </a:avLst>
          </a:prstGeom>
          <a:solidFill>
            <a:srgbClr val="778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27"/>
          <p:cNvSpPr txBox="1"/>
          <p:nvPr/>
        </p:nvSpPr>
        <p:spPr>
          <a:xfrm>
            <a:off x="9320000" y="2950000"/>
            <a:ext cx="1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</a:rPr>
              <a:t>工单智能</a:t>
            </a:r>
            <a:br>
              <a:rPr sz="1100" b="1">
                <a:solidFill>
                  <a:srgbClr val="FFFFFF"/>
                </a:solidFill>
                <a:latin typeface="微软雅黑" panose="020B0503020204020204" pitchFamily="34" charset="-122"/>
              </a:rPr>
            </a:br>
            <a:r>
              <a:rPr sz="1100" b="1">
                <a:solidFill>
                  <a:srgbClr val="FFFFFF"/>
                </a:solidFill>
                <a:latin typeface="微软雅黑" panose="020B0503020204020204" pitchFamily="34" charset="-122"/>
              </a:rPr>
              <a:t>预填</a:t>
            </a:r>
            <a:endParaRPr sz="11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8" name="TextBox 28"/>
          <p:cNvSpPr txBox="1"/>
          <p:nvPr/>
        </p:nvSpPr>
        <p:spPr>
          <a:xfrm>
            <a:off x="9320000" y="3300000"/>
            <a:ext cx="120000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微软雅黑" panose="020B0503020204020204" pitchFamily="34" charset="-122"/>
              </a:rPr>
              <a:t>NER+映射</a:t>
            </a:r>
            <a:endParaRPr sz="8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9" name="Rounded Rectangle 29"/>
          <p:cNvSpPr/>
          <p:nvPr/>
        </p:nvSpPr>
        <p:spPr>
          <a:xfrm>
            <a:off x="10580000" y="2850000"/>
            <a:ext cx="1200000" cy="700000"/>
          </a:xfrm>
          <a:prstGeom prst="roundRect">
            <a:avLst>
              <a:gd name="adj" fmla="val 8000"/>
            </a:avLst>
          </a:prstGeom>
          <a:solidFill>
            <a:srgbClr val="DF2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30"/>
          <p:cNvSpPr txBox="1"/>
          <p:nvPr/>
        </p:nvSpPr>
        <p:spPr>
          <a:xfrm>
            <a:off x="10580000" y="2950000"/>
            <a:ext cx="12000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100" b="1">
                <a:solidFill>
                  <a:srgbClr val="FFFFFF"/>
                </a:solidFill>
                <a:latin typeface="微软雅黑" panose="020B0503020204020204" pitchFamily="34" charset="-122"/>
              </a:rPr>
              <a:t>自动</a:t>
            </a:r>
            <a:r>
              <a:rPr lang="zh-CN" sz="1100" b="1">
                <a:solidFill>
                  <a:srgbClr val="FFFFFF"/>
                </a:solidFill>
                <a:latin typeface="微软雅黑" panose="020B0503020204020204" pitchFamily="34" charset="-122"/>
              </a:rPr>
              <a:t>任务</a:t>
            </a:r>
            <a:endParaRPr lang="zh-CN" sz="1100" b="1">
              <a:solidFill>
                <a:srgbClr val="FFFFFF"/>
              </a:solidFill>
              <a:latin typeface="微软雅黑" panose="020B0503020204020204" pitchFamily="34" charset="-122"/>
            </a:endParaRPr>
          </a:p>
          <a:p>
            <a:pPr algn="ctr"/>
            <a:r>
              <a:rPr lang="zh-CN" sz="1100" b="1">
                <a:solidFill>
                  <a:srgbClr val="FFFFFF"/>
                </a:solidFill>
                <a:latin typeface="微软雅黑" panose="020B0503020204020204" pitchFamily="34" charset="-122"/>
              </a:rPr>
              <a:t>编排</a:t>
            </a:r>
            <a:endParaRPr lang="zh-CN" sz="11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1" name="TextBox 31"/>
          <p:cNvSpPr txBox="1"/>
          <p:nvPr/>
        </p:nvSpPr>
        <p:spPr>
          <a:xfrm>
            <a:off x="10580000" y="3300000"/>
            <a:ext cx="12000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800" b="0">
                <a:solidFill>
                  <a:srgbClr val="FFFFFF"/>
                </a:solidFill>
                <a:latin typeface="微软雅黑" panose="020B0503020204020204" pitchFamily="34" charset="-122"/>
              </a:rPr>
              <a:t>编排</a:t>
            </a:r>
            <a:r>
              <a:rPr lang="zh-CN" sz="800" b="0">
                <a:solidFill>
                  <a:srgbClr val="FFFFFF"/>
                </a:solidFill>
                <a:latin typeface="微软雅黑" panose="020B0503020204020204" pitchFamily="34" charset="-122"/>
              </a:rPr>
              <a:t>类</a:t>
            </a:r>
            <a:endParaRPr lang="zh-CN" sz="800" b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2" name="Rounded Rectangle 32"/>
          <p:cNvSpPr/>
          <p:nvPr/>
        </p:nvSpPr>
        <p:spPr>
          <a:xfrm>
            <a:off x="400000" y="3700000"/>
            <a:ext cx="11400000" cy="4500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</a:rPr>
              <a:t>原子能力层 ｜ 知识依据校验 · 客户标签聚合与画像构建 · 座席语速与音量检测 · 敏感词实时检测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3" name="Rounded Rectangle 33"/>
          <p:cNvSpPr/>
          <p:nvPr/>
        </p:nvSpPr>
        <p:spPr>
          <a:xfrm>
            <a:off x="400000" y="4250000"/>
            <a:ext cx="11400000" cy="450000"/>
          </a:xfrm>
          <a:prstGeom prst="roundRect">
            <a:avLst>
              <a:gd name="adj" fmla="val 6000"/>
            </a:avLst>
          </a:prstGeom>
          <a:solidFill>
            <a:srgbClr val="778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</a:rPr>
              <a:t>技术底座 ｜ 大模型引擎 · ASR语音识别 · NLP自然语言处理 · 知识图谱 · 向量数据库 · CRM/工单系统对接</a:t>
            </a:r>
            <a:endParaRPr sz="13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4" name="Rounded Rectangle 34"/>
          <p:cNvSpPr/>
          <p:nvPr/>
        </p:nvSpPr>
        <p:spPr>
          <a:xfrm>
            <a:off x="400000" y="4900000"/>
            <a:ext cx="5600000" cy="1400000"/>
          </a:xfrm>
          <a:prstGeom prst="roundRect">
            <a:avLst>
              <a:gd name="adj" fmla="val 3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35"/>
          <p:cNvSpPr txBox="1"/>
          <p:nvPr/>
        </p:nvSpPr>
        <p:spPr>
          <a:xfrm>
            <a:off x="500000" y="4950000"/>
            <a:ext cx="5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78D"/>
                </a:solidFill>
                <a:latin typeface="微软雅黑" panose="020B0503020204020204" pitchFamily="34" charset="-122"/>
              </a:rPr>
              <a:t>关键技术指标</a:t>
            </a:r>
            <a:endParaRPr sz="1400" b="1">
              <a:solidFill>
                <a:srgbClr val="33378D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" name="TextBox 36"/>
          <p:cNvSpPr txBox="1"/>
          <p:nvPr/>
        </p:nvSpPr>
        <p:spPr>
          <a:xfrm>
            <a:off x="500000" y="5250000"/>
            <a:ext cx="5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微软雅黑" panose="020B0503020204020204" pitchFamily="34" charset="-122"/>
              </a:rPr>
              <a:t>• BM25 + 语义向量双路召回，兼顾精确率与召回率</a:t>
            </a:r>
            <a:endParaRPr sz="10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微软雅黑" panose="020B0503020204020204" pitchFamily="34" charset="-122"/>
              </a:rPr>
              <a:t>• 轻量音频/文本情绪分类模型，高速确定性优先</a:t>
            </a:r>
            <a:endParaRPr sz="10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微软雅黑" panose="020B0503020204020204" pitchFamily="34" charset="-122"/>
              </a:rPr>
              <a:t>• CRM数据加载延迟≤3秒，接口失败按错误态处理</a:t>
            </a:r>
            <a:endParaRPr sz="10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微软雅黑" panose="020B0503020204020204" pitchFamily="34" charset="-122"/>
              </a:rPr>
              <a:t>• 语速检测准确率≥85%，误报率≤15%</a:t>
            </a:r>
            <a:endParaRPr sz="1000" b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97" name="Rounded Rectangle 37"/>
          <p:cNvSpPr/>
          <p:nvPr/>
        </p:nvSpPr>
        <p:spPr>
          <a:xfrm>
            <a:off x="6200000" y="4900000"/>
            <a:ext cx="5600000" cy="1400000"/>
          </a:xfrm>
          <a:prstGeom prst="roundRect">
            <a:avLst>
              <a:gd name="adj" fmla="val 3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38"/>
          <p:cNvSpPr txBox="1"/>
          <p:nvPr/>
        </p:nvSpPr>
        <p:spPr>
          <a:xfrm>
            <a:off x="6300000" y="4950000"/>
            <a:ext cx="5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0000"/>
                </a:solidFill>
                <a:latin typeface="微软雅黑" panose="020B0503020204020204" pitchFamily="34" charset="-122"/>
              </a:rPr>
              <a:t>五级风险预警体系</a:t>
            </a:r>
            <a:endParaRPr sz="1400" b="1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9" name="Rounded Rectangle 39"/>
          <p:cNvSpPr/>
          <p:nvPr/>
        </p:nvSpPr>
        <p:spPr>
          <a:xfrm>
            <a:off x="6300000" y="5479235"/>
            <a:ext cx="200000" cy="250000"/>
          </a:xfrm>
          <a:prstGeom prst="roundRect">
            <a:avLst>
              <a:gd name="adj" fmla="val 10000"/>
            </a:avLst>
          </a:prstGeom>
          <a:solidFill>
            <a:srgbClr val="E0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L1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0" name="TextBox 40"/>
          <p:cNvSpPr txBox="1"/>
          <p:nvPr/>
        </p:nvSpPr>
        <p:spPr>
          <a:xfrm>
            <a:off x="6520000" y="5479235"/>
            <a:ext cx="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2626"/>
                </a:solidFill>
                <a:latin typeface="微软雅黑" panose="020B0503020204020204" pitchFamily="34" charset="-122"/>
              </a:rPr>
              <a:t>情绪预警</a:t>
            </a:r>
            <a:endParaRPr sz="900" b="1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1" name="TextBox 41"/>
          <p:cNvSpPr txBox="1"/>
          <p:nvPr/>
        </p:nvSpPr>
        <p:spPr>
          <a:xfrm>
            <a:off x="6300000" y="5759235"/>
            <a:ext cx="10000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08080"/>
                </a:solidFill>
                <a:latin typeface="微软雅黑" panose="020B0503020204020204" pitchFamily="34" charset="-122"/>
              </a:rPr>
              <a:t>声音+视觉+通知</a:t>
            </a:r>
            <a:endParaRPr sz="800" b="0">
              <a:solidFill>
                <a:srgbClr val="80808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2" name="Rounded Rectangle 42"/>
          <p:cNvSpPr/>
          <p:nvPr/>
        </p:nvSpPr>
        <p:spPr>
          <a:xfrm>
            <a:off x="7380000" y="5479235"/>
            <a:ext cx="200000" cy="250000"/>
          </a:xfrm>
          <a:prstGeom prst="roundRect">
            <a:avLst>
              <a:gd name="adj" fmla="val 10000"/>
            </a:avLst>
          </a:prstGeom>
          <a:solidFill>
            <a:srgbClr val="E0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L2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3" name="TextBox 43"/>
          <p:cNvSpPr txBox="1"/>
          <p:nvPr/>
        </p:nvSpPr>
        <p:spPr>
          <a:xfrm>
            <a:off x="7600000" y="5479235"/>
            <a:ext cx="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2626"/>
                </a:solidFill>
                <a:latin typeface="微软雅黑" panose="020B0503020204020204" pitchFamily="34" charset="-122"/>
              </a:rPr>
              <a:t>合规漏说</a:t>
            </a:r>
            <a:endParaRPr sz="900" b="1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4" name="TextBox 44"/>
          <p:cNvSpPr txBox="1"/>
          <p:nvPr/>
        </p:nvSpPr>
        <p:spPr>
          <a:xfrm>
            <a:off x="7380000" y="5759235"/>
            <a:ext cx="10000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08080"/>
                </a:solidFill>
                <a:latin typeface="微软雅黑" panose="020B0503020204020204" pitchFamily="34" charset="-122"/>
              </a:rPr>
              <a:t>弹窗提醒必说话术</a:t>
            </a:r>
            <a:endParaRPr sz="800" b="0">
              <a:solidFill>
                <a:srgbClr val="80808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5" name="Rounded Rectangle 45"/>
          <p:cNvSpPr/>
          <p:nvPr/>
        </p:nvSpPr>
        <p:spPr>
          <a:xfrm>
            <a:off x="8460000" y="5479235"/>
            <a:ext cx="200000" cy="250000"/>
          </a:xfrm>
          <a:prstGeom prst="roundRect">
            <a:avLst>
              <a:gd name="adj" fmla="val 10000"/>
            </a:avLst>
          </a:prstGeom>
          <a:solidFill>
            <a:srgbClr val="E0B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L3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6" name="TextBox 46"/>
          <p:cNvSpPr txBox="1"/>
          <p:nvPr/>
        </p:nvSpPr>
        <p:spPr>
          <a:xfrm>
            <a:off x="8680000" y="5479235"/>
            <a:ext cx="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2626"/>
                </a:solidFill>
                <a:latin typeface="微软雅黑" panose="020B0503020204020204" pitchFamily="34" charset="-122"/>
              </a:rPr>
              <a:t>敏感词</a:t>
            </a:r>
            <a:endParaRPr sz="900" b="1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7" name="TextBox 47"/>
          <p:cNvSpPr txBox="1"/>
          <p:nvPr/>
        </p:nvSpPr>
        <p:spPr>
          <a:xfrm>
            <a:off x="8460000" y="5759235"/>
            <a:ext cx="10000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08080"/>
                </a:solidFill>
                <a:latin typeface="微软雅黑" panose="020B0503020204020204" pitchFamily="34" charset="-122"/>
              </a:rPr>
              <a:t>黄色预警弹出</a:t>
            </a:r>
            <a:endParaRPr sz="800" b="0">
              <a:solidFill>
                <a:srgbClr val="80808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8" name="Rounded Rectangle 48"/>
          <p:cNvSpPr/>
          <p:nvPr/>
        </p:nvSpPr>
        <p:spPr>
          <a:xfrm>
            <a:off x="9540000" y="5479235"/>
            <a:ext cx="200000" cy="250000"/>
          </a:xfrm>
          <a:prstGeom prst="roundRect">
            <a:avLst>
              <a:gd name="adj" fmla="val 10000"/>
            </a:avLst>
          </a:prstGeom>
          <a:solidFill>
            <a:srgbClr val="8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L4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9" name="TextBox 49"/>
          <p:cNvSpPr txBox="1"/>
          <p:nvPr/>
        </p:nvSpPr>
        <p:spPr>
          <a:xfrm>
            <a:off x="9760000" y="5479235"/>
            <a:ext cx="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2626"/>
                </a:solidFill>
                <a:latin typeface="微软雅黑" panose="020B0503020204020204" pitchFamily="34" charset="-122"/>
              </a:rPr>
              <a:t>座席语调</a:t>
            </a:r>
            <a:endParaRPr sz="900" b="1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0" name="TextBox 50"/>
          <p:cNvSpPr txBox="1"/>
          <p:nvPr/>
        </p:nvSpPr>
        <p:spPr>
          <a:xfrm>
            <a:off x="9540000" y="5759235"/>
            <a:ext cx="10000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08080"/>
                </a:solidFill>
                <a:latin typeface="微软雅黑" panose="020B0503020204020204" pitchFamily="34" charset="-122"/>
              </a:rPr>
              <a:t>黄色背景显示</a:t>
            </a:r>
            <a:endParaRPr sz="800" b="0">
              <a:solidFill>
                <a:srgbClr val="80808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1" name="Rounded Rectangle 51"/>
          <p:cNvSpPr/>
          <p:nvPr/>
        </p:nvSpPr>
        <p:spPr>
          <a:xfrm>
            <a:off x="10620000" y="5479235"/>
            <a:ext cx="200000" cy="250000"/>
          </a:xfrm>
          <a:prstGeom prst="roundRect">
            <a:avLst>
              <a:gd name="adj" fmla="val 10000"/>
            </a:avLst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L5</a:t>
            </a:r>
            <a:endParaRPr sz="10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" name="TextBox 52"/>
          <p:cNvSpPr txBox="1"/>
          <p:nvPr/>
        </p:nvSpPr>
        <p:spPr>
          <a:xfrm>
            <a:off x="10840000" y="5479235"/>
            <a:ext cx="8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62626"/>
                </a:solidFill>
                <a:latin typeface="微软雅黑" panose="020B0503020204020204" pitchFamily="34" charset="-122"/>
              </a:rPr>
              <a:t>流程规范</a:t>
            </a:r>
            <a:endParaRPr sz="900" b="1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3" name="TextBox 53"/>
          <p:cNvSpPr txBox="1"/>
          <p:nvPr/>
        </p:nvSpPr>
        <p:spPr>
          <a:xfrm>
            <a:off x="10620000" y="5759235"/>
            <a:ext cx="1000000" cy="213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08080"/>
                </a:solidFill>
                <a:latin typeface="微软雅黑" panose="020B0503020204020204" pitchFamily="34" charset="-122"/>
              </a:rPr>
              <a:t>记录提示</a:t>
            </a:r>
            <a:endParaRPr sz="800" b="0">
              <a:solidFill>
                <a:srgbClr val="80808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 rot="2040000">
            <a:off x="9740265" y="661670"/>
            <a:ext cx="1879600" cy="4381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 anchorCtr="0"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示例</a:t>
            </a:r>
            <a:endParaRPr kumimoji="0" lang="zh-CN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140335" y="675005"/>
            <a:ext cx="629348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b="0" i="0" u="none" strike="noStrike" cap="none" spc="0" normalizeH="0" baseline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fontAlgn="ctr">
              <a:lnSpc>
                <a:spcPct val="150000"/>
              </a:lnSpc>
              <a:defRPr/>
            </a:pP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介绍技术</a:t>
            </a: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架构</a:t>
            </a:r>
            <a:endParaRPr kumimoji="0" lang="zh-CN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j-ea"/>
                <a:sym typeface="+mn-ea"/>
              </a:rPr>
              <a:t>应用场景丨</a:t>
            </a:r>
            <a:r>
              <a:rPr lang="zh-CN" altLang="en-US" dirty="0"/>
              <a:t>知识检索</a:t>
            </a:r>
            <a:r>
              <a:rPr lang="zh-CN" altLang="en-US" dirty="0"/>
              <a:t>及客户</a:t>
            </a:r>
            <a:r>
              <a:rPr lang="zh-CN" altLang="en-US" dirty="0"/>
              <a:t>识别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76" name="文本框 75"/>
          <p:cNvSpPr txBox="1"/>
          <p:nvPr/>
        </p:nvSpPr>
        <p:spPr>
          <a:xfrm>
            <a:off x="563368" y="1611077"/>
            <a:ext cx="3459357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分析类 · 原子能力层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563368" y="2385457"/>
            <a:ext cx="3459357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业务场景</a:t>
            </a:r>
            <a:endParaRPr sz="12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支撑答案溯源，降低银行场景中错误回答和幻觉风险。确保每条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AI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生成的回复都有据可查。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2" name="直接连接符 81"/>
          <p:cNvCxnSpPr/>
          <p:nvPr/>
        </p:nvCxnSpPr>
        <p:spPr>
          <a:xfrm>
            <a:off x="645478" y="1464620"/>
            <a:ext cx="3280727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00C2FF"/>
                </a:gs>
                <a:gs pos="100000">
                  <a:srgbClr val="022AE2"/>
                </a:gs>
                <a:gs pos="53000">
                  <a:srgbClr val="0F79FF"/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4499928" y="1464620"/>
            <a:ext cx="3514407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00C2FF"/>
                </a:gs>
                <a:gs pos="100000">
                  <a:srgbClr val="022AE2"/>
                </a:gs>
                <a:gs pos="53000">
                  <a:srgbClr val="0F79FF"/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7" name="组合 516"/>
          <p:cNvGrpSpPr/>
          <p:nvPr/>
        </p:nvGrpSpPr>
        <p:grpSpPr>
          <a:xfrm>
            <a:off x="645478" y="2258210"/>
            <a:ext cx="10991850" cy="0"/>
            <a:chOff x="874713" y="2459665"/>
            <a:chExt cx="10991850" cy="0"/>
          </a:xfrm>
        </p:grpSpPr>
        <p:cxnSp>
          <p:nvCxnSpPr>
            <p:cNvPr id="84" name="直接连接符 83"/>
            <p:cNvCxnSpPr/>
            <p:nvPr/>
          </p:nvCxnSpPr>
          <p:spPr>
            <a:xfrm>
              <a:off x="874713" y="2459665"/>
              <a:ext cx="3280727" cy="0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rgbClr val="00C2FF"/>
                  </a:gs>
                  <a:gs pos="100000">
                    <a:srgbClr val="022AE2"/>
                  </a:gs>
                  <a:gs pos="53000">
                    <a:srgbClr val="0F79FF"/>
                  </a:gs>
                </a:gsLst>
                <a:lin ang="0" scaled="1"/>
                <a:tileRect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>
              <a:off x="4806633" y="2459665"/>
              <a:ext cx="3514407" cy="0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rgbClr val="00C2FF"/>
                  </a:gs>
                  <a:gs pos="100000">
                    <a:srgbClr val="022AE2"/>
                  </a:gs>
                  <a:gs pos="53000">
                    <a:srgbClr val="0F79FF"/>
                  </a:gs>
                </a:gsLst>
                <a:lin ang="0" scaled="1"/>
                <a:tileRect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>
              <a:off x="8666798" y="2459665"/>
              <a:ext cx="3199765" cy="0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rgbClr val="00C2FF"/>
                  </a:gs>
                  <a:gs pos="100000">
                    <a:srgbClr val="022AE2"/>
                  </a:gs>
                  <a:gs pos="53000">
                    <a:srgbClr val="0F79FF"/>
                  </a:gs>
                </a:gsLst>
                <a:lin ang="0" scaled="1"/>
                <a:tileRect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7" name="直接连接符 86"/>
          <p:cNvCxnSpPr/>
          <p:nvPr/>
        </p:nvCxnSpPr>
        <p:spPr>
          <a:xfrm>
            <a:off x="8420418" y="1464620"/>
            <a:ext cx="3216910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00C2FF"/>
                </a:gs>
                <a:gs pos="100000">
                  <a:srgbClr val="022AE2"/>
                </a:gs>
                <a:gs pos="53000">
                  <a:srgbClr val="0F79FF"/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563245" y="996315"/>
            <a:ext cx="172783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知识依据校验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8350885" y="996315"/>
            <a:ext cx="24879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客户标签聚合与画像构建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563245" y="1870710"/>
            <a:ext cx="3362960" cy="37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10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检查回答是否有明确知识库、制度文件或产品规则支撑，避免模型凭经验生成答案</a:t>
            </a:r>
            <a:r>
              <a:rPr sz="10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。</a:t>
            </a:r>
            <a:endParaRPr lang="zh-CN" altLang="en-US" sz="1000">
              <a:solidFill>
                <a:srgbClr val="262626"/>
              </a:solidFill>
              <a:latin typeface="微软雅黑" panose="020B0503020204020204" pitchFamily="34" charset="-122"/>
              <a:sym typeface="+mn-ea"/>
            </a:endParaRPr>
          </a:p>
        </p:txBody>
      </p:sp>
      <p:pic>
        <p:nvPicPr>
          <p:cNvPr id="94" name="图片 9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458970" y="4585970"/>
            <a:ext cx="3399790" cy="1949450"/>
          </a:xfrm>
          <a:prstGeom prst="rect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ysDot"/>
          </a:ln>
        </p:spPr>
      </p:pic>
      <p:sp>
        <p:nvSpPr>
          <p:cNvPr id="95" name="文本框 94"/>
          <p:cNvSpPr txBox="1"/>
          <p:nvPr/>
        </p:nvSpPr>
        <p:spPr>
          <a:xfrm>
            <a:off x="4459093" y="1611077"/>
            <a:ext cx="3459357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RAG · AI业务能力中台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459093" y="2385457"/>
            <a:ext cx="3459357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业务场景</a:t>
            </a:r>
            <a:endParaRPr sz="12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座席提问或客户问题触发，自动检索知识并浮层展示，辅助座席快速回答。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458970" y="996315"/>
            <a:ext cx="172783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知识随行检索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4458970" y="1870710"/>
            <a:ext cx="3362960" cy="37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sz="10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结合BM25与语义向量双路召回，从知识库中命中高相关文档并生成答案。</a:t>
            </a:r>
            <a:endParaRPr lang="zh-CN" altLang="en-US" sz="1000">
              <a:solidFill>
                <a:srgbClr val="262626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99" name="Rounded Rectangle 20"/>
          <p:cNvSpPr/>
          <p:nvPr/>
        </p:nvSpPr>
        <p:spPr>
          <a:xfrm>
            <a:off x="4422060" y="3362360"/>
            <a:ext cx="3400000" cy="900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21"/>
          <p:cNvSpPr txBox="1"/>
          <p:nvPr/>
        </p:nvSpPr>
        <p:spPr>
          <a:xfrm>
            <a:off x="4522060" y="3442360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双路召回(BM25+向量)</a:t>
            </a:r>
            <a:endParaRPr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浮层展示</a:t>
            </a:r>
            <a:endParaRPr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实时检索</a:t>
            </a:r>
            <a:endParaRPr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8351008" y="1611077"/>
            <a:ext cx="3459357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分析类 · 原子能力层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8351008" y="2385457"/>
            <a:ext cx="3459357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业务场景</a:t>
            </a:r>
            <a:endParaRPr sz="12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座席接线时快速了解客户全貌，支撑个性化服务。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可扩展实时行为嗅探和深度服务轨迹。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8387715" y="1892935"/>
            <a:ext cx="3362960" cy="37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sz="10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汇总客户基本信息、服务偏好、业务标签。从CRM实时同步，敏感字段按角色分层脱敏</a:t>
            </a:r>
            <a:r>
              <a:rPr lang="en-US" sz="10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.</a:t>
            </a:r>
            <a:endParaRPr lang="en-US" sz="1000">
              <a:solidFill>
                <a:srgbClr val="262626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07" name="Rounded Rectangle 30"/>
          <p:cNvSpPr/>
          <p:nvPr/>
        </p:nvSpPr>
        <p:spPr>
          <a:xfrm>
            <a:off x="8337935" y="3342675"/>
            <a:ext cx="3400000" cy="900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31"/>
          <p:cNvSpPr txBox="1"/>
          <p:nvPr/>
        </p:nvSpPr>
        <p:spPr>
          <a:xfrm>
            <a:off x="8437935" y="3422675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CRM实时同步(≤3秒)</a:t>
            </a:r>
            <a:endParaRPr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敏感信息分层脱敏</a:t>
            </a:r>
            <a:endParaRPr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客户全景视图</a:t>
            </a:r>
            <a:endParaRPr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09" name="图片 1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8185" y="4585970"/>
            <a:ext cx="3390265" cy="1949450"/>
          </a:xfrm>
          <a:prstGeom prst="rect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ysDot"/>
          </a:ln>
        </p:spPr>
      </p:pic>
      <p:sp>
        <p:nvSpPr>
          <p:cNvPr id="118" name="Rounded Rectangle 10"/>
          <p:cNvSpPr/>
          <p:nvPr/>
        </p:nvSpPr>
        <p:spPr>
          <a:xfrm>
            <a:off x="623025" y="3338865"/>
            <a:ext cx="3400000" cy="900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"/>
          <p:cNvSpPr txBox="1"/>
          <p:nvPr/>
        </p:nvSpPr>
        <p:spPr>
          <a:xfrm>
            <a:off x="723025" y="3418865"/>
            <a:ext cx="3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防幻觉</a:t>
            </a:r>
            <a:endParaRPr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答案溯源</a:t>
            </a:r>
            <a:endParaRPr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知识库绑定</a:t>
            </a:r>
            <a:endParaRPr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22" name="图片 1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45795" y="4585970"/>
            <a:ext cx="3334385" cy="1949450"/>
          </a:xfrm>
          <a:prstGeom prst="rect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ysDot"/>
          </a:ln>
        </p:spPr>
      </p:pic>
      <p:sp>
        <p:nvSpPr>
          <p:cNvPr id="3" name="矩形 2"/>
          <p:cNvSpPr/>
          <p:nvPr/>
        </p:nvSpPr>
        <p:spPr>
          <a:xfrm rot="2040000">
            <a:off x="9740265" y="661670"/>
            <a:ext cx="1879600" cy="4381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 anchorCtr="0"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示例</a:t>
            </a:r>
            <a:endParaRPr kumimoji="0" lang="zh-CN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140335" y="675005"/>
            <a:ext cx="629348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b="0" i="0" u="none" strike="noStrike" cap="none" spc="0" normalizeH="0" baseline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fontAlgn="ctr">
              <a:lnSpc>
                <a:spcPct val="150000"/>
              </a:lnSpc>
              <a:defRPr/>
            </a:pP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介绍应用</a:t>
            </a: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场景</a:t>
            </a:r>
            <a:endParaRPr kumimoji="0" lang="zh-CN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j-ea"/>
                <a:sym typeface="+mn-ea"/>
              </a:rPr>
              <a:t>应用场景丨</a:t>
            </a:r>
            <a:r>
              <a:rPr lang="zh-CN" altLang="en-US" dirty="0"/>
              <a:t>话中实时话术</a:t>
            </a:r>
            <a:r>
              <a:rPr lang="zh-CN" altLang="en-US" dirty="0"/>
              <a:t>及流程</a:t>
            </a:r>
            <a:r>
              <a:rPr lang="zh-CN" altLang="en-US" dirty="0"/>
              <a:t>辅助</a:t>
            </a:r>
            <a:endParaRPr lang="zh-CN" altLang="en-US" dirty="0"/>
          </a:p>
        </p:txBody>
      </p:sp>
      <p:sp>
        <p:nvSpPr>
          <p:cNvPr id="76" name="文本框 75"/>
          <p:cNvSpPr txBox="1"/>
          <p:nvPr/>
        </p:nvSpPr>
        <p:spPr>
          <a:xfrm>
            <a:off x="593213" y="2658827"/>
            <a:ext cx="345935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生成式 · </a:t>
            </a:r>
            <a:r>
              <a:rPr lang="en-US" altLang="zh-CN"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AI</a:t>
            </a:r>
            <a:r>
              <a:rPr lang="zh-CN" altLang="en-US"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业务能力中台</a:t>
            </a:r>
            <a:endParaRPr lang="zh-CN" altLang="en-US" sz="1200" b="1">
              <a:solidFill>
                <a:srgbClr val="266DE7"/>
              </a:solidFill>
              <a:latin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1200" b="1">
              <a:solidFill>
                <a:srgbClr val="266DE7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593213" y="3433207"/>
            <a:ext cx="3459357" cy="755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业务场景</a:t>
            </a:r>
            <a:endParaRPr sz="12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座席通话中自动展示最佳话术，缩短话术查找时间，提升应答一致性。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2" name="直接连接符 81"/>
          <p:cNvCxnSpPr/>
          <p:nvPr/>
        </p:nvCxnSpPr>
        <p:spPr>
          <a:xfrm>
            <a:off x="675323" y="2486335"/>
            <a:ext cx="3280727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00C2FF"/>
                </a:gs>
                <a:gs pos="100000">
                  <a:srgbClr val="022AE2"/>
                </a:gs>
                <a:gs pos="53000">
                  <a:srgbClr val="0F79FF"/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/>
          <p:cNvCxnSpPr/>
          <p:nvPr/>
        </p:nvCxnSpPr>
        <p:spPr>
          <a:xfrm>
            <a:off x="8081963" y="3399465"/>
            <a:ext cx="3514407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00C2FF"/>
                </a:gs>
                <a:gs pos="100000">
                  <a:srgbClr val="022AE2"/>
                </a:gs>
                <a:gs pos="53000">
                  <a:srgbClr val="0F79FF"/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652780" y="3423920"/>
            <a:ext cx="3280410" cy="0"/>
          </a:xfrm>
          <a:prstGeom prst="line">
            <a:avLst/>
          </a:prstGeom>
          <a:ln w="9525">
            <a:gradFill flip="none" rotWithShape="1">
              <a:gsLst>
                <a:gs pos="0">
                  <a:srgbClr val="00C2FF"/>
                </a:gs>
                <a:gs pos="100000">
                  <a:srgbClr val="022AE2"/>
                </a:gs>
                <a:gs pos="53000">
                  <a:srgbClr val="0F79FF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593090" y="2018030"/>
            <a:ext cx="172783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实时话术推荐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593090" y="2918460"/>
            <a:ext cx="3362960" cy="37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sz="10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基于客户意图与对话上下文，实时生成话术建议，支持一键引用或发送。</a:t>
            </a:r>
            <a:endParaRPr lang="zh-CN" altLang="en-US" sz="1000">
              <a:solidFill>
                <a:srgbClr val="262626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8041128" y="3545922"/>
            <a:ext cx="345935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编排驱动 · </a:t>
            </a:r>
            <a:r>
              <a:rPr lang="en-US" altLang="zh-CN"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AI</a:t>
            </a:r>
            <a:r>
              <a:rPr lang="zh-CN" altLang="en-US"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业务能力中台</a:t>
            </a:r>
            <a:endParaRPr lang="zh-CN" altLang="en-US" sz="1200" b="1">
              <a:solidFill>
                <a:srgbClr val="266DE7"/>
              </a:solidFill>
              <a:latin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1200" b="1">
              <a:solidFill>
                <a:srgbClr val="266DE7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8041128" y="4320302"/>
            <a:ext cx="3459357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业务场景</a:t>
            </a:r>
            <a:endParaRPr sz="12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业务咨询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信用卡分期、投诉处理等流程中引导座席按标准步骤办理，减少操作遗漏和流程偏差。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8041005" y="2931160"/>
            <a:ext cx="172783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SOP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流程导航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8041005" y="3805555"/>
            <a:ext cx="3362960" cy="37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10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根据业务场景自动激活</a:t>
            </a:r>
            <a:r>
              <a:rPr lang="en-US" altLang="zh-CN" sz="10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SOP</a:t>
            </a:r>
            <a:r>
              <a:rPr lang="zh-CN" altLang="en-US" sz="10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流程节点，展示当前步骤、分支条件及下一步操作。</a:t>
            </a:r>
            <a:endParaRPr lang="zh-CN" altLang="en-US" sz="1000">
              <a:solidFill>
                <a:srgbClr val="262626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99" name="Rounded Rectangle 20"/>
          <p:cNvSpPr/>
          <p:nvPr/>
        </p:nvSpPr>
        <p:spPr>
          <a:xfrm>
            <a:off x="8004095" y="5297205"/>
            <a:ext cx="3400000" cy="900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21"/>
          <p:cNvSpPr txBox="1"/>
          <p:nvPr/>
        </p:nvSpPr>
        <p:spPr>
          <a:xfrm>
            <a:off x="8104095" y="5377205"/>
            <a:ext cx="3200000" cy="701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altLang="en-US"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场景自动激活</a:t>
            </a:r>
            <a:endParaRPr lang="zh-CN" altLang="en-US"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lang="zh-CN" altLang="en-US"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步骤/分支展示</a:t>
            </a:r>
            <a:endParaRPr lang="zh-CN" altLang="en-US"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lang="zh-CN" altLang="en-US"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标准化引导</a:t>
            </a:r>
            <a:endParaRPr lang="zh-CN" altLang="en-US"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8" name="Rounded Rectangle 10"/>
          <p:cNvSpPr/>
          <p:nvPr/>
        </p:nvSpPr>
        <p:spPr>
          <a:xfrm>
            <a:off x="652870" y="4386615"/>
            <a:ext cx="3400000" cy="900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"/>
          <p:cNvSpPr txBox="1"/>
          <p:nvPr/>
        </p:nvSpPr>
        <p:spPr>
          <a:xfrm>
            <a:off x="752870" y="4466615"/>
            <a:ext cx="3200000" cy="701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altLang="en-US"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实时生成</a:t>
            </a:r>
            <a:endParaRPr lang="zh-CN" altLang="en-US"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lang="zh-CN" altLang="en-US"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一键引用/发送</a:t>
            </a:r>
            <a:endParaRPr lang="zh-CN" altLang="en-US"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lang="zh-CN" altLang="en-US"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上下文感知</a:t>
            </a:r>
            <a:endParaRPr lang="zh-CN" altLang="en-US"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885" y="1066165"/>
            <a:ext cx="3328670" cy="5397500"/>
          </a:xfrm>
          <a:prstGeom prst="rect">
            <a:avLst/>
          </a:prstGeom>
        </p:spPr>
      </p:pic>
      <p:cxnSp>
        <p:nvCxnSpPr>
          <p:cNvPr id="4" name="直接连接符 3"/>
          <p:cNvCxnSpPr/>
          <p:nvPr/>
        </p:nvCxnSpPr>
        <p:spPr>
          <a:xfrm>
            <a:off x="8081963" y="4283860"/>
            <a:ext cx="3514407" cy="0"/>
          </a:xfrm>
          <a:prstGeom prst="line">
            <a:avLst/>
          </a:prstGeom>
          <a:ln w="9525">
            <a:gradFill flip="none" rotWithShape="1">
              <a:gsLst>
                <a:gs pos="0">
                  <a:srgbClr val="00C2FF"/>
                </a:gs>
                <a:gs pos="100000">
                  <a:srgbClr val="022AE2"/>
                </a:gs>
                <a:gs pos="53000">
                  <a:srgbClr val="0F79FF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/>
        </p:nvSpPr>
        <p:spPr>
          <a:xfrm>
            <a:off x="4052570" y="1054100"/>
            <a:ext cx="3726180" cy="1930400"/>
          </a:xfrm>
          <a:prstGeom prst="roundRect">
            <a:avLst/>
          </a:prstGeom>
          <a:noFill/>
          <a:ln w="1905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 anchorCtr="0"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9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肘形连接符 6"/>
          <p:cNvCxnSpPr/>
          <p:nvPr/>
        </p:nvCxnSpPr>
        <p:spPr>
          <a:xfrm rot="10800000" flipV="1">
            <a:off x="1337310" y="1564640"/>
            <a:ext cx="2711450" cy="453390"/>
          </a:xfrm>
          <a:prstGeom prst="bentConnector2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4041140" y="2984500"/>
            <a:ext cx="3792220" cy="3484880"/>
          </a:xfrm>
          <a:prstGeom prst="roundRect">
            <a:avLst/>
          </a:prstGeom>
          <a:noFill/>
          <a:ln w="19050" cmpd="sng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 anchorCtr="0"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90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肘形连接符 8"/>
          <p:cNvCxnSpPr>
            <a:endCxn id="97" idx="0"/>
          </p:cNvCxnSpPr>
          <p:nvPr/>
        </p:nvCxnSpPr>
        <p:spPr>
          <a:xfrm flipV="1">
            <a:off x="7837170" y="2931160"/>
            <a:ext cx="1068070" cy="588645"/>
          </a:xfrm>
          <a:prstGeom prst="bentConnector4">
            <a:avLst>
              <a:gd name="adj1" fmla="val 9572"/>
              <a:gd name="adj2" fmla="val 248112"/>
            </a:avLst>
          </a:prstGeom>
          <a:ln w="19050" cmpd="sng">
            <a:solidFill>
              <a:schemeClr val="accent1">
                <a:shade val="50000"/>
              </a:schemeClr>
            </a:solidFill>
            <a:prstDash val="sys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 rot="2040000">
            <a:off x="9740265" y="661670"/>
            <a:ext cx="1879600" cy="4381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 anchorCtr="0"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示例</a:t>
            </a:r>
            <a:endParaRPr kumimoji="0" lang="zh-CN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40335" y="675005"/>
            <a:ext cx="629348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b="0" i="0" u="none" strike="noStrike" cap="none" spc="0" normalizeH="0" baseline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fontAlgn="ctr">
              <a:lnSpc>
                <a:spcPct val="150000"/>
              </a:lnSpc>
              <a:defRPr/>
            </a:pP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介绍应用</a:t>
            </a: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场景</a:t>
            </a:r>
            <a:endParaRPr kumimoji="0" lang="zh-CN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j-ea"/>
                <a:sym typeface="+mn-ea"/>
              </a:rPr>
              <a:t>应用场景丨话后处理</a:t>
            </a:r>
            <a:r>
              <a:rPr lang="zh-CN" altLang="en-US" dirty="0">
                <a:cs typeface="+mj-ea"/>
                <a:sym typeface="+mn-ea"/>
              </a:rPr>
              <a:t>与提效自动化</a:t>
            </a:r>
            <a:endParaRPr lang="zh-CN" altLang="en-US" dirty="0">
              <a:cs typeface="+mj-ea"/>
              <a:sym typeface="+mn-ea"/>
            </a:endParaRPr>
          </a:p>
          <a:p>
            <a:endParaRPr lang="zh-CN" altLang="en-US" dirty="0"/>
          </a:p>
        </p:txBody>
      </p:sp>
      <p:sp>
        <p:nvSpPr>
          <p:cNvPr id="76" name="文本框 75"/>
          <p:cNvSpPr txBox="1"/>
          <p:nvPr/>
        </p:nvSpPr>
        <p:spPr>
          <a:xfrm>
            <a:off x="563368" y="1611077"/>
            <a:ext cx="345935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生成式 · </a:t>
            </a:r>
            <a:r>
              <a:rPr lang="en-US" altLang="zh-CN"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AI</a:t>
            </a:r>
            <a:r>
              <a:rPr lang="zh-CN" altLang="en-US"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业务能力中台</a:t>
            </a:r>
            <a:endParaRPr lang="zh-CN" altLang="en-US" sz="1200" b="1">
              <a:solidFill>
                <a:srgbClr val="266DE7"/>
              </a:solidFill>
              <a:latin typeface="微软雅黑" panose="020B0503020204020204" pitchFamily="34" charset="-122"/>
              <a:sym typeface="+mn-ea"/>
            </a:endParaRPr>
          </a:p>
          <a:p>
            <a:pPr algn="l"/>
            <a:endParaRPr lang="zh-CN" altLang="en-US" sz="1200" b="1">
              <a:solidFill>
                <a:srgbClr val="266DE7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563245" y="2385695"/>
            <a:ext cx="356298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业务场景</a:t>
            </a:r>
            <a:endParaRPr sz="12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座席为客户服务结束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系统自动弹出来电小结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并已填充要素和内容，座席可根据实际修改再保存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2" name="直接连接符 81"/>
          <p:cNvCxnSpPr/>
          <p:nvPr/>
        </p:nvCxnSpPr>
        <p:spPr>
          <a:xfrm>
            <a:off x="645478" y="1464620"/>
            <a:ext cx="3280727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00C2FF"/>
                </a:gs>
                <a:gs pos="100000">
                  <a:srgbClr val="022AE2"/>
                </a:gs>
                <a:gs pos="53000">
                  <a:srgbClr val="0F79FF"/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/>
        </p:nvCxnSpPr>
        <p:spPr>
          <a:xfrm>
            <a:off x="563245" y="2273935"/>
            <a:ext cx="3280410" cy="0"/>
          </a:xfrm>
          <a:prstGeom prst="line">
            <a:avLst/>
          </a:prstGeom>
          <a:ln w="9525">
            <a:gradFill flip="none" rotWithShape="1">
              <a:gsLst>
                <a:gs pos="0">
                  <a:srgbClr val="00C2FF"/>
                </a:gs>
                <a:gs pos="100000">
                  <a:srgbClr val="022AE2"/>
                </a:gs>
                <a:gs pos="53000">
                  <a:srgbClr val="0F79FF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/>
        </p:nvCxnSpPr>
        <p:spPr>
          <a:xfrm>
            <a:off x="8420418" y="1464620"/>
            <a:ext cx="3216910" cy="0"/>
          </a:xfrm>
          <a:prstGeom prst="line">
            <a:avLst/>
          </a:prstGeom>
          <a:ln w="15875">
            <a:gradFill flip="none" rotWithShape="1">
              <a:gsLst>
                <a:gs pos="0">
                  <a:srgbClr val="00C2FF"/>
                </a:gs>
                <a:gs pos="100000">
                  <a:srgbClr val="022AE2"/>
                </a:gs>
                <a:gs pos="53000">
                  <a:srgbClr val="0F79FF"/>
                </a:gs>
              </a:gsLst>
              <a:lin ang="0" scaled="1"/>
              <a:tileRect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563245" y="996315"/>
            <a:ext cx="221551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联络小结结构化生成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8350885" y="996315"/>
            <a:ext cx="248793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工单要素智能抽取与预填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563245" y="1870710"/>
            <a:ext cx="3362960" cy="37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sz="10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通话结束后，按模板自动生成结构化服务小结：联络类型→业务大类→具体业务→小结内容。</a:t>
            </a:r>
            <a:endParaRPr lang="zh-CN" altLang="en-US" sz="1000">
              <a:solidFill>
                <a:srgbClr val="262626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8351008" y="1611077"/>
            <a:ext cx="3459357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分析类 · 原子能力层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8350885" y="2542540"/>
            <a:ext cx="3561715" cy="975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200" b="1">
                <a:solidFill>
                  <a:srgbClr val="266DE7"/>
                </a:solidFill>
                <a:latin typeface="微软雅黑" panose="020B0503020204020204" pitchFamily="34" charset="-122"/>
                <a:sym typeface="+mn-ea"/>
              </a:rPr>
              <a:t>业务场景</a:t>
            </a:r>
            <a:endParaRPr sz="12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需要发起工单的服务场景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系统自动预填工单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内容，座席确认后可提交，必填字段为空时高亮提示。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8375015" y="1887220"/>
            <a:ext cx="3362960" cy="3759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/>
            <a:r>
              <a:rPr lang="zh-CN" altLang="en-US" sz="1000">
                <a:solidFill>
                  <a:srgbClr val="262626"/>
                </a:solidFill>
                <a:latin typeface="微软雅黑" panose="020B0503020204020204" pitchFamily="34" charset="-122"/>
                <a:sym typeface="+mn-ea"/>
              </a:rPr>
              <a:t>从会话内容中自动提取关键字段预填工单：标题、来电原因、工单类型、摘要、客户情绪、关键要素。映射规则由运营人员按业务类型配置。</a:t>
            </a:r>
            <a:endParaRPr lang="zh-CN" altLang="en-US" sz="1000">
              <a:solidFill>
                <a:srgbClr val="262626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07" name="Rounded Rectangle 30"/>
          <p:cNvSpPr/>
          <p:nvPr/>
        </p:nvSpPr>
        <p:spPr>
          <a:xfrm>
            <a:off x="8386195" y="3415065"/>
            <a:ext cx="3400000" cy="900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31"/>
          <p:cNvSpPr txBox="1"/>
          <p:nvPr/>
        </p:nvSpPr>
        <p:spPr>
          <a:xfrm>
            <a:off x="8486195" y="3495065"/>
            <a:ext cx="3200000" cy="701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zh-CN"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NER</a:t>
            </a:r>
            <a:r>
              <a:rPr lang="zh-CN" altLang="en-US" sz="1100" b="1">
                <a:solidFill>
                  <a:srgbClr val="266DE7"/>
                </a:solidFill>
                <a:latin typeface="微软雅黑" panose="020B0503020204020204" pitchFamily="34" charset="-122"/>
              </a:rPr>
              <a:t>智能抽取</a:t>
            </a:r>
            <a:endParaRPr lang="zh-CN" altLang="en-US"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lang="zh-CN" altLang="en-US"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人工确认后提交</a:t>
            </a:r>
            <a:endParaRPr lang="zh-CN" altLang="en-US"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lang="zh-CN" altLang="en-US"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映射规则可配置</a:t>
            </a:r>
            <a:endParaRPr lang="zh-CN" altLang="en-US"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8" name="Rounded Rectangle 10"/>
          <p:cNvSpPr/>
          <p:nvPr/>
        </p:nvSpPr>
        <p:spPr>
          <a:xfrm>
            <a:off x="623025" y="3338865"/>
            <a:ext cx="3400000" cy="900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"/>
          <p:cNvSpPr txBox="1"/>
          <p:nvPr/>
        </p:nvSpPr>
        <p:spPr>
          <a:xfrm>
            <a:off x="723025" y="3418865"/>
            <a:ext cx="3200000" cy="701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altLang="en-US"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模板可配置</a:t>
            </a:r>
            <a:endParaRPr lang="zh-CN" altLang="en-US"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lang="zh-CN" altLang="en-US"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修改记录审计</a:t>
            </a:r>
            <a:endParaRPr lang="zh-CN" altLang="en-US"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lang="zh-CN" altLang="en-US" sz="1100" b="1">
                <a:solidFill>
                  <a:srgbClr val="266DE7"/>
                </a:solidFill>
                <a:latin typeface="微软雅黑" panose="020B0503020204020204" pitchFamily="34" charset="-122"/>
              </a:rPr>
              <a:t>✓ 多模板版本管理</a:t>
            </a:r>
            <a:endParaRPr lang="zh-CN" altLang="en-US" sz="1100" b="1">
              <a:solidFill>
                <a:srgbClr val="266DE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95775" y="5497195"/>
            <a:ext cx="3930650" cy="506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50000"/>
              </a:lnSpc>
            </a:pP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自动任务编排   </a:t>
            </a:r>
            <a:r>
              <a:rPr lang="en-US" altLang="zh-CN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+  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并行生成</a:t>
            </a:r>
            <a:r>
              <a:rPr lang="zh-CN" altLang="en-US" sz="18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提效</a:t>
            </a:r>
            <a:endParaRPr lang="zh-CN" altLang="en-US" sz="18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5" name="Freeform 6"/>
          <p:cNvSpPr/>
          <p:nvPr/>
        </p:nvSpPr>
        <p:spPr bwMode="auto">
          <a:xfrm>
            <a:off x="5802316" y="1415395"/>
            <a:ext cx="2092814" cy="1495695"/>
          </a:xfrm>
          <a:custGeom>
            <a:avLst/>
            <a:gdLst>
              <a:gd name="T0" fmla="*/ 787 w 1390"/>
              <a:gd name="T1" fmla="*/ 244 h 995"/>
              <a:gd name="T2" fmla="*/ 246 w 1390"/>
              <a:gd name="T3" fmla="*/ 244 h 995"/>
              <a:gd name="T4" fmla="*/ 0 w 1390"/>
              <a:gd name="T5" fmla="*/ 490 h 995"/>
              <a:gd name="T6" fmla="*/ 0 w 1390"/>
              <a:gd name="T7" fmla="*/ 995 h 995"/>
              <a:gd name="T8" fmla="*/ 19 w 1390"/>
              <a:gd name="T9" fmla="*/ 915 h 995"/>
              <a:gd name="T10" fmla="*/ 254 w 1390"/>
              <a:gd name="T11" fmla="*/ 731 h 995"/>
              <a:gd name="T12" fmla="*/ 787 w 1390"/>
              <a:gd name="T13" fmla="*/ 731 h 995"/>
              <a:gd name="T14" fmla="*/ 797 w 1390"/>
              <a:gd name="T15" fmla="*/ 741 h 995"/>
              <a:gd name="T16" fmla="*/ 797 w 1390"/>
              <a:gd name="T17" fmla="*/ 932 h 995"/>
              <a:gd name="T18" fmla="*/ 837 w 1390"/>
              <a:gd name="T19" fmla="*/ 951 h 995"/>
              <a:gd name="T20" fmla="*/ 1371 w 1390"/>
              <a:gd name="T21" fmla="*/ 512 h 995"/>
              <a:gd name="T22" fmla="*/ 1371 w 1390"/>
              <a:gd name="T23" fmla="*/ 454 h 995"/>
              <a:gd name="T24" fmla="*/ 835 w 1390"/>
              <a:gd name="T25" fmla="*/ 12 h 995"/>
              <a:gd name="T26" fmla="*/ 797 w 1390"/>
              <a:gd name="T27" fmla="*/ 30 h 995"/>
              <a:gd name="T28" fmla="*/ 797 w 1390"/>
              <a:gd name="T29" fmla="*/ 234 h 995"/>
              <a:gd name="T30" fmla="*/ 787 w 1390"/>
              <a:gd name="T31" fmla="*/ 244 h 9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390" h="995">
                <a:moveTo>
                  <a:pt x="787" y="244"/>
                </a:moveTo>
                <a:cubicBezTo>
                  <a:pt x="246" y="244"/>
                  <a:pt x="246" y="244"/>
                  <a:pt x="246" y="244"/>
                </a:cubicBezTo>
                <a:cubicBezTo>
                  <a:pt x="110" y="244"/>
                  <a:pt x="0" y="354"/>
                  <a:pt x="0" y="490"/>
                </a:cubicBezTo>
                <a:cubicBezTo>
                  <a:pt x="0" y="995"/>
                  <a:pt x="0" y="995"/>
                  <a:pt x="0" y="995"/>
                </a:cubicBezTo>
                <a:cubicBezTo>
                  <a:pt x="19" y="915"/>
                  <a:pt x="19" y="915"/>
                  <a:pt x="19" y="915"/>
                </a:cubicBezTo>
                <a:cubicBezTo>
                  <a:pt x="46" y="807"/>
                  <a:pt x="143" y="731"/>
                  <a:pt x="254" y="731"/>
                </a:cubicBezTo>
                <a:cubicBezTo>
                  <a:pt x="787" y="731"/>
                  <a:pt x="787" y="731"/>
                  <a:pt x="787" y="731"/>
                </a:cubicBezTo>
                <a:cubicBezTo>
                  <a:pt x="792" y="731"/>
                  <a:pt x="797" y="735"/>
                  <a:pt x="797" y="741"/>
                </a:cubicBezTo>
                <a:cubicBezTo>
                  <a:pt x="797" y="932"/>
                  <a:pt x="797" y="932"/>
                  <a:pt x="797" y="932"/>
                </a:cubicBezTo>
                <a:cubicBezTo>
                  <a:pt x="797" y="953"/>
                  <a:pt x="821" y="964"/>
                  <a:pt x="837" y="951"/>
                </a:cubicBezTo>
                <a:cubicBezTo>
                  <a:pt x="1371" y="512"/>
                  <a:pt x="1371" y="512"/>
                  <a:pt x="1371" y="512"/>
                </a:cubicBezTo>
                <a:cubicBezTo>
                  <a:pt x="1390" y="497"/>
                  <a:pt x="1390" y="469"/>
                  <a:pt x="1371" y="454"/>
                </a:cubicBezTo>
                <a:cubicBezTo>
                  <a:pt x="835" y="12"/>
                  <a:pt x="835" y="12"/>
                  <a:pt x="835" y="12"/>
                </a:cubicBezTo>
                <a:cubicBezTo>
                  <a:pt x="819" y="0"/>
                  <a:pt x="797" y="11"/>
                  <a:pt x="797" y="30"/>
                </a:cubicBezTo>
                <a:cubicBezTo>
                  <a:pt x="797" y="234"/>
                  <a:pt x="797" y="234"/>
                  <a:pt x="797" y="234"/>
                </a:cubicBezTo>
                <a:cubicBezTo>
                  <a:pt x="797" y="239"/>
                  <a:pt x="792" y="244"/>
                  <a:pt x="787" y="244"/>
                </a:cubicBezTo>
                <a:close/>
              </a:path>
            </a:pathLst>
          </a:custGeom>
          <a:gradFill flip="none" rotWithShape="1">
            <a:gsLst>
              <a:gs pos="73000">
                <a:schemeClr val="accent1"/>
              </a:gs>
              <a:gs pos="31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Freeform 7"/>
          <p:cNvSpPr/>
          <p:nvPr/>
        </p:nvSpPr>
        <p:spPr bwMode="auto">
          <a:xfrm>
            <a:off x="4368443" y="2725059"/>
            <a:ext cx="2153059" cy="1543100"/>
          </a:xfrm>
          <a:custGeom>
            <a:avLst/>
            <a:gdLst>
              <a:gd name="T0" fmla="*/ 1378 w 1395"/>
              <a:gd name="T1" fmla="*/ 79 h 1001"/>
              <a:gd name="T2" fmla="*/ 1148 w 1395"/>
              <a:gd name="T3" fmla="*/ 264 h 1001"/>
              <a:gd name="T4" fmla="*/ 608 w 1395"/>
              <a:gd name="T5" fmla="*/ 264 h 1001"/>
              <a:gd name="T6" fmla="*/ 599 w 1395"/>
              <a:gd name="T7" fmla="*/ 255 h 1001"/>
              <a:gd name="T8" fmla="*/ 599 w 1395"/>
              <a:gd name="T9" fmla="*/ 38 h 1001"/>
              <a:gd name="T10" fmla="*/ 578 w 1395"/>
              <a:gd name="T11" fmla="*/ 28 h 1001"/>
              <a:gd name="T12" fmla="*/ 12 w 1395"/>
              <a:gd name="T13" fmla="*/ 493 h 1001"/>
              <a:gd name="T14" fmla="*/ 12 w 1395"/>
              <a:gd name="T15" fmla="*/ 531 h 1001"/>
              <a:gd name="T16" fmla="*/ 574 w 1395"/>
              <a:gd name="T17" fmla="*/ 993 h 1001"/>
              <a:gd name="T18" fmla="*/ 599 w 1395"/>
              <a:gd name="T19" fmla="*/ 981 h 1001"/>
              <a:gd name="T20" fmla="*/ 599 w 1395"/>
              <a:gd name="T21" fmla="*/ 774 h 1001"/>
              <a:gd name="T22" fmla="*/ 608 w 1395"/>
              <a:gd name="T23" fmla="*/ 765 h 1001"/>
              <a:gd name="T24" fmla="*/ 1154 w 1395"/>
              <a:gd name="T25" fmla="*/ 765 h 1001"/>
              <a:gd name="T26" fmla="*/ 1395 w 1395"/>
              <a:gd name="T27" fmla="*/ 524 h 1001"/>
              <a:gd name="T28" fmla="*/ 1395 w 1395"/>
              <a:gd name="T29" fmla="*/ 0 h 1001"/>
              <a:gd name="T30" fmla="*/ 1378 w 1395"/>
              <a:gd name="T31" fmla="*/ 79 h 10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395" h="1001">
                <a:moveTo>
                  <a:pt x="1378" y="79"/>
                </a:moveTo>
                <a:cubicBezTo>
                  <a:pt x="1354" y="187"/>
                  <a:pt x="1259" y="264"/>
                  <a:pt x="1148" y="264"/>
                </a:cubicBezTo>
                <a:cubicBezTo>
                  <a:pt x="608" y="264"/>
                  <a:pt x="608" y="264"/>
                  <a:pt x="608" y="264"/>
                </a:cubicBezTo>
                <a:cubicBezTo>
                  <a:pt x="603" y="264"/>
                  <a:pt x="599" y="260"/>
                  <a:pt x="599" y="255"/>
                </a:cubicBezTo>
                <a:cubicBezTo>
                  <a:pt x="599" y="38"/>
                  <a:pt x="599" y="38"/>
                  <a:pt x="599" y="38"/>
                </a:cubicBezTo>
                <a:cubicBezTo>
                  <a:pt x="599" y="27"/>
                  <a:pt x="586" y="21"/>
                  <a:pt x="578" y="28"/>
                </a:cubicBezTo>
                <a:cubicBezTo>
                  <a:pt x="12" y="493"/>
                  <a:pt x="12" y="493"/>
                  <a:pt x="12" y="493"/>
                </a:cubicBezTo>
                <a:cubicBezTo>
                  <a:pt x="0" y="503"/>
                  <a:pt x="0" y="521"/>
                  <a:pt x="12" y="531"/>
                </a:cubicBezTo>
                <a:cubicBezTo>
                  <a:pt x="574" y="993"/>
                  <a:pt x="574" y="993"/>
                  <a:pt x="574" y="993"/>
                </a:cubicBezTo>
                <a:cubicBezTo>
                  <a:pt x="584" y="1001"/>
                  <a:pt x="599" y="994"/>
                  <a:pt x="599" y="981"/>
                </a:cubicBezTo>
                <a:cubicBezTo>
                  <a:pt x="599" y="774"/>
                  <a:pt x="599" y="774"/>
                  <a:pt x="599" y="774"/>
                </a:cubicBezTo>
                <a:cubicBezTo>
                  <a:pt x="599" y="769"/>
                  <a:pt x="603" y="765"/>
                  <a:pt x="608" y="765"/>
                </a:cubicBezTo>
                <a:cubicBezTo>
                  <a:pt x="1154" y="765"/>
                  <a:pt x="1154" y="765"/>
                  <a:pt x="1154" y="765"/>
                </a:cubicBezTo>
                <a:cubicBezTo>
                  <a:pt x="1287" y="765"/>
                  <a:pt x="1395" y="657"/>
                  <a:pt x="1395" y="524"/>
                </a:cubicBezTo>
                <a:cubicBezTo>
                  <a:pt x="1395" y="0"/>
                  <a:pt x="1395" y="0"/>
                  <a:pt x="1395" y="0"/>
                </a:cubicBezTo>
                <a:lnTo>
                  <a:pt x="1378" y="79"/>
                </a:lnTo>
                <a:close/>
              </a:path>
            </a:pathLst>
          </a:custGeom>
          <a:gradFill flip="none" rotWithShape="1">
            <a:gsLst>
              <a:gs pos="73000">
                <a:schemeClr val="accent1"/>
              </a:gs>
              <a:gs pos="31000">
                <a:schemeClr val="accent1">
                  <a:lumMod val="60000"/>
                  <a:lumOff val="40000"/>
                </a:schemeClr>
              </a:gs>
              <a:gs pos="0">
                <a:schemeClr val="accent1">
                  <a:lumMod val="40000"/>
                  <a:lumOff val="60000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4211630" y="5066910"/>
            <a:ext cx="3993179" cy="368300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 marR="0" lvl="0" indent="0" algn="ctr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b="1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zh-CN" altLang="en-US" sz="1800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</a:rPr>
              <a:t>通话结束后自动触发任务编排</a:t>
            </a:r>
            <a:endParaRPr lang="zh-CN" altLang="en-US" sz="1800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998" y="5594664"/>
            <a:ext cx="375891" cy="375891"/>
          </a:xfrm>
          <a:prstGeom prst="rect">
            <a:avLst/>
          </a:prstGeom>
        </p:spPr>
      </p:pic>
      <p:pic>
        <p:nvPicPr>
          <p:cNvPr id="1214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" y="4590415"/>
            <a:ext cx="3397250" cy="1945005"/>
          </a:xfrm>
          <a:prstGeom prst="rect">
            <a:avLst/>
          </a:prstGeom>
          <a:noFill/>
          <a:ln w="19050" cmpd="sng">
            <a:solidFill>
              <a:schemeClr val="accent1">
                <a:shade val="50000"/>
              </a:schemeClr>
            </a:solidFill>
            <a:prstDash val="sysDot"/>
          </a:ln>
        </p:spPr>
      </p:pic>
      <p:cxnSp>
        <p:nvCxnSpPr>
          <p:cNvPr id="4" name="直接连接符 3"/>
          <p:cNvCxnSpPr/>
          <p:nvPr/>
        </p:nvCxnSpPr>
        <p:spPr>
          <a:xfrm>
            <a:off x="8420418" y="2439820"/>
            <a:ext cx="3216910" cy="0"/>
          </a:xfrm>
          <a:prstGeom prst="line">
            <a:avLst/>
          </a:prstGeom>
          <a:ln w="9525">
            <a:gradFill flip="none" rotWithShape="1">
              <a:gsLst>
                <a:gs pos="0">
                  <a:srgbClr val="00C2FF"/>
                </a:gs>
                <a:gs pos="100000">
                  <a:srgbClr val="022AE2"/>
                </a:gs>
                <a:gs pos="53000">
                  <a:srgbClr val="0F79FF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l="8328"/>
          <a:stretch>
            <a:fillRect/>
          </a:stretch>
        </p:blipFill>
        <p:spPr>
          <a:xfrm>
            <a:off x="8395335" y="4525010"/>
            <a:ext cx="3432810" cy="1988820"/>
          </a:xfrm>
          <a:prstGeom prst="rect">
            <a:avLst/>
          </a:prstGeom>
          <a:ln w="19050" cmpd="sng">
            <a:solidFill>
              <a:schemeClr val="accent1">
                <a:shade val="50000"/>
              </a:schemeClr>
            </a:solidFill>
            <a:prstDash val="sysDot"/>
          </a:ln>
        </p:spPr>
      </p:pic>
      <p:sp>
        <p:nvSpPr>
          <p:cNvPr id="7" name="矩形 6"/>
          <p:cNvSpPr/>
          <p:nvPr/>
        </p:nvSpPr>
        <p:spPr>
          <a:xfrm rot="2040000">
            <a:off x="9740265" y="661670"/>
            <a:ext cx="1879600" cy="4381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 anchorCtr="0"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示例</a:t>
            </a:r>
            <a:endParaRPr kumimoji="0" lang="zh-CN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140335" y="675005"/>
            <a:ext cx="629348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b="0" i="0" u="none" strike="noStrike" cap="none" spc="0" normalizeH="0" baseline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fontAlgn="ctr">
              <a:lnSpc>
                <a:spcPct val="150000"/>
              </a:lnSpc>
              <a:defRPr/>
            </a:pP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介绍应用</a:t>
            </a: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场景</a:t>
            </a:r>
            <a:endParaRPr kumimoji="0" lang="zh-CN" altLang="zh-CN" sz="16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+mj-ea"/>
                <a:sym typeface="+mn-ea"/>
              </a:rPr>
              <a:t>智能客服助手丨应用</a:t>
            </a:r>
            <a:r>
              <a:rPr lang="zh-CN" altLang="en-US" dirty="0">
                <a:cs typeface="+mj-ea"/>
                <a:sym typeface="+mn-ea"/>
              </a:rPr>
              <a:t>价值与</a:t>
            </a:r>
            <a:r>
              <a:rPr lang="zh-CN" altLang="en-US" dirty="0">
                <a:cs typeface="+mj-ea"/>
                <a:sym typeface="+mn-ea"/>
              </a:rPr>
              <a:t>优势</a:t>
            </a:r>
            <a:endParaRPr lang="zh-CN" altLang="en-US" dirty="0">
              <a:cs typeface="+mj-ea"/>
              <a:sym typeface="+mn-ea"/>
            </a:endParaRPr>
          </a:p>
        </p:txBody>
      </p:sp>
      <p:sp>
        <p:nvSpPr>
          <p:cNvPr id="4" name="Rounded Rectangle 2"/>
          <p:cNvSpPr/>
          <p:nvPr/>
        </p:nvSpPr>
        <p:spPr>
          <a:xfrm>
            <a:off x="400000" y="1138100"/>
            <a:ext cx="5600000" cy="24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266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3"/>
          <p:cNvSpPr/>
          <p:nvPr/>
        </p:nvSpPr>
        <p:spPr>
          <a:xfrm>
            <a:off x="400000" y="1138100"/>
            <a:ext cx="5600000" cy="500000"/>
          </a:xfrm>
          <a:prstGeom prst="roundRect">
            <a:avLst>
              <a:gd name="adj" fmla="val 4000"/>
            </a:avLst>
          </a:prstGeom>
          <a:solidFill>
            <a:srgbClr val="266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pitchFamily="34" charset="-122"/>
              </a:rPr>
              <a:t>大幅提升座席效率</a:t>
            </a:r>
            <a:endParaRPr sz="1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600000" y="1738100"/>
            <a:ext cx="52000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联络小结确认时长≤30秒，减少≥70%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工单填写时长≤1.5分钟，减少≥50%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知识检索浮层展示，零查找时间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话术一键引用，缩短应答准备时间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Rounded Rectangle 5"/>
          <p:cNvSpPr/>
          <p:nvPr/>
        </p:nvSpPr>
        <p:spPr>
          <a:xfrm>
            <a:off x="600000" y="3038100"/>
            <a:ext cx="5200000" cy="40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66DE7"/>
                </a:solidFill>
                <a:latin typeface="微软雅黑" panose="020B0503020204020204" pitchFamily="34" charset="-122"/>
              </a:rPr>
              <a:t>通过AI自动化处理，让座席专注于客户</a:t>
            </a:r>
            <a:r>
              <a:rPr lang="zh-CN" sz="1200" b="1">
                <a:solidFill>
                  <a:srgbClr val="266DE7"/>
                </a:solidFill>
                <a:latin typeface="微软雅黑" panose="020B0503020204020204" pitchFamily="34" charset="-122"/>
              </a:rPr>
              <a:t>服务</a:t>
            </a:r>
            <a:r>
              <a:rPr sz="1200" b="1">
                <a:solidFill>
                  <a:srgbClr val="266DE7"/>
                </a:solidFill>
                <a:latin typeface="微软雅黑" panose="020B0503020204020204" pitchFamily="34" charset="-122"/>
              </a:rPr>
              <a:t>本身</a:t>
            </a:r>
            <a:endParaRPr sz="1200" b="1">
              <a:solidFill>
                <a:srgbClr val="266DE7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Rounded Rectangle 6"/>
          <p:cNvSpPr/>
          <p:nvPr/>
        </p:nvSpPr>
        <p:spPr>
          <a:xfrm>
            <a:off x="6200000" y="1138100"/>
            <a:ext cx="5600000" cy="24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048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7"/>
          <p:cNvSpPr/>
          <p:nvPr/>
        </p:nvSpPr>
        <p:spPr>
          <a:xfrm>
            <a:off x="6200000" y="1138100"/>
            <a:ext cx="5600000" cy="500000"/>
          </a:xfrm>
          <a:prstGeom prst="roundRect">
            <a:avLst>
              <a:gd name="adj" fmla="val 4000"/>
            </a:avLst>
          </a:prstGeom>
          <a:solidFill>
            <a:srgbClr val="048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pitchFamily="34" charset="-122"/>
              </a:rPr>
              <a:t>全面合规风险管控</a:t>
            </a:r>
            <a:endParaRPr sz="1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6400000" y="1738100"/>
            <a:ext cx="52000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实时质检必说话术/</a:t>
            </a:r>
            <a:r>
              <a:rPr lang="zh-CN" sz="1200" b="0">
                <a:solidFill>
                  <a:srgbClr val="262626"/>
                </a:solidFill>
                <a:latin typeface="微软雅黑" panose="020B0503020204020204" pitchFamily="34" charset="-122"/>
              </a:rPr>
              <a:t>敏感词</a:t>
            </a: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/风险揭示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五级风险预警体系（L1-L5分级响应）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情绪预警响应&lt;500ms，同步通知</a:t>
            </a:r>
            <a:r>
              <a:rPr lang="zh-CN" sz="1200" b="0">
                <a:solidFill>
                  <a:srgbClr val="262626"/>
                </a:solidFill>
                <a:latin typeface="微软雅黑" panose="020B0503020204020204" pitchFamily="34" charset="-122"/>
              </a:rPr>
              <a:t>管理员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全流程修改记录留存，支持审计追溯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Rounded Rectangle 9"/>
          <p:cNvSpPr/>
          <p:nvPr/>
        </p:nvSpPr>
        <p:spPr>
          <a:xfrm>
            <a:off x="6400000" y="3038100"/>
            <a:ext cx="5200000" cy="40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48AE3"/>
                </a:solidFill>
                <a:latin typeface="微软雅黑" panose="020B0503020204020204" pitchFamily="34" charset="-122"/>
              </a:rPr>
              <a:t>构建「事前预防+事中预警+事后审计」全链路合规体系</a:t>
            </a:r>
            <a:endParaRPr sz="1200" b="1">
              <a:solidFill>
                <a:srgbClr val="048AE3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ounded Rectangle 10"/>
          <p:cNvSpPr/>
          <p:nvPr/>
        </p:nvSpPr>
        <p:spPr>
          <a:xfrm>
            <a:off x="400000" y="3738100"/>
            <a:ext cx="5600000" cy="24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7784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1"/>
          <p:cNvSpPr/>
          <p:nvPr/>
        </p:nvSpPr>
        <p:spPr>
          <a:xfrm>
            <a:off x="400000" y="3738100"/>
            <a:ext cx="5600000" cy="500000"/>
          </a:xfrm>
          <a:prstGeom prst="roundRect">
            <a:avLst>
              <a:gd name="adj" fmla="val 4000"/>
            </a:avLst>
          </a:prstGeom>
          <a:solidFill>
            <a:srgbClr val="778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pitchFamily="34" charset="-122"/>
              </a:rPr>
              <a:t>显著增强客户体验</a:t>
            </a:r>
            <a:endParaRPr sz="1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TextBox 12"/>
          <p:cNvSpPr txBox="1"/>
          <p:nvPr/>
        </p:nvSpPr>
        <p:spPr>
          <a:xfrm>
            <a:off x="600000" y="4338100"/>
            <a:ext cx="52000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客户画像秒级加载，接线即了解客户全貌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个性化话术适配不同客户群体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情绪实时感知，负向情绪主动安抚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答案知识溯源，减少错误回答和幻觉风险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Rounded Rectangle 13"/>
          <p:cNvSpPr/>
          <p:nvPr/>
        </p:nvSpPr>
        <p:spPr>
          <a:xfrm>
            <a:off x="600000" y="5638100"/>
            <a:ext cx="5200000" cy="40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778495"/>
                </a:solidFill>
                <a:latin typeface="微软雅黑" panose="020B0503020204020204" pitchFamily="34" charset="-122"/>
              </a:rPr>
              <a:t>让每位客户感受到被理解、被重视的个性化服务</a:t>
            </a:r>
            <a:endParaRPr sz="1200" b="1">
              <a:solidFill>
                <a:srgbClr val="778495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Rounded Rectangle 14"/>
          <p:cNvSpPr/>
          <p:nvPr/>
        </p:nvSpPr>
        <p:spPr>
          <a:xfrm>
            <a:off x="6200000" y="3738100"/>
            <a:ext cx="5600000" cy="240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5400">
            <a:solidFill>
              <a:srgbClr val="1B45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5"/>
          <p:cNvSpPr/>
          <p:nvPr/>
        </p:nvSpPr>
        <p:spPr>
          <a:xfrm>
            <a:off x="6200000" y="3738100"/>
            <a:ext cx="5600000" cy="500000"/>
          </a:xfrm>
          <a:prstGeom prst="roundRect">
            <a:avLst>
              <a:gd name="adj" fmla="val 4000"/>
            </a:avLst>
          </a:prstGeom>
          <a:solidFill>
            <a:srgbClr val="1B4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pitchFamily="34" charset="-122"/>
              </a:rPr>
              <a:t>灵活可扩展能力架构</a:t>
            </a:r>
            <a:endParaRPr sz="18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6"/>
          <p:cNvSpPr txBox="1"/>
          <p:nvPr/>
        </p:nvSpPr>
        <p:spPr>
          <a:xfrm>
            <a:off x="6400000" y="4338100"/>
            <a:ext cx="520000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三级分层架构：原子能力→中台→编排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</a:t>
            </a:r>
            <a:r>
              <a:rPr lang="zh-CN" sz="1200" b="0">
                <a:solidFill>
                  <a:srgbClr val="262626"/>
                </a:solidFill>
                <a:latin typeface="微软雅黑" panose="020B0503020204020204" pitchFamily="34" charset="-122"/>
              </a:rPr>
              <a:t>多</a:t>
            </a: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项Skill技能可独立升级、灵活组合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模板/词库/映射规则按租户独立配置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  <a:latin typeface="微软雅黑" panose="020B0503020204020204" pitchFamily="34" charset="-122"/>
              </a:rPr>
              <a:t>• 支持多渠道接入，服务体验一致性保障</a:t>
            </a:r>
            <a:endParaRPr sz="1200" b="0">
              <a:solidFill>
                <a:srgbClr val="26262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ounded Rectangle 17"/>
          <p:cNvSpPr/>
          <p:nvPr/>
        </p:nvSpPr>
        <p:spPr>
          <a:xfrm>
            <a:off x="6400000" y="5638100"/>
            <a:ext cx="5200000" cy="4000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B4593"/>
                </a:solidFill>
                <a:latin typeface="微软雅黑" panose="020B0503020204020204" pitchFamily="34" charset="-122"/>
              </a:rPr>
              <a:t>积木式能力组合，按需扩展，适配多样化业务场景</a:t>
            </a:r>
            <a:endParaRPr sz="1200" b="1">
              <a:solidFill>
                <a:srgbClr val="1B4593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 rot="2040000">
            <a:off x="9740265" y="661670"/>
            <a:ext cx="1879600" cy="438150"/>
          </a:xfrm>
          <a:prstGeom prst="rect">
            <a:avLst/>
          </a:prstGeom>
          <a:solidFill>
            <a:srgbClr val="FFFF00"/>
          </a:solidFill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t" anchorCtr="0"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示例</a:t>
            </a:r>
            <a:endParaRPr kumimoji="0" lang="zh-CN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40335" y="675005"/>
            <a:ext cx="6293485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100" b="0" i="0" u="none" strike="noStrike" cap="none" spc="0" normalizeH="0" baseline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lvl="0" fontAlgn="ctr">
              <a:lnSpc>
                <a:spcPct val="150000"/>
              </a:lnSpc>
              <a:defRPr/>
            </a:pPr>
            <a:r>
              <a:rPr kumimoji="0" lang="zh-CN" altLang="zh-CN" sz="1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介绍</a:t>
            </a:r>
            <a:r>
              <a:rPr lang="zh-CN" altLang="en-US" sz="1600" i="1" dirty="0">
                <a:solidFill>
                  <a:srgbClr val="FF0000"/>
                </a:solidFill>
                <a:cs typeface="+mj-ea"/>
                <a:sym typeface="+mn-ea"/>
              </a:rPr>
              <a:t>应用价值与优势</a:t>
            </a:r>
            <a:endParaRPr kumimoji="0" lang="zh-CN" altLang="en-US" sz="16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ea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1379C"/>
      </a:accent1>
      <a:accent2>
        <a:srgbClr val="266DE7"/>
      </a:accent2>
      <a:accent3>
        <a:srgbClr val="048AE3"/>
      </a:accent3>
      <a:accent4>
        <a:srgbClr val="00D3E4"/>
      </a:accent4>
      <a:accent5>
        <a:srgbClr val="908E88"/>
      </a:accent5>
      <a:accent6>
        <a:srgbClr val="ADADAD"/>
      </a:accent6>
      <a:hlink>
        <a:srgbClr val="046EA4"/>
      </a:hlink>
      <a:folHlink>
        <a:srgbClr val="BFBFBF"/>
      </a:folHlink>
    </a:clrScheme>
    <a:fontScheme name="mihdl5gu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chemeClr val="bg2">
              <a:lumMod val="75000"/>
            </a:schemeClr>
          </a:solidFill>
        </a:ln>
      </a:spPr>
      <a:bodyPr lIns="0" tIns="36000" rIns="0" bIns="36000" rtlCol="0" anchor="t" anchorCtr="0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90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2788</Words>
  <Application>WPS 演示</Application>
  <PresentationFormat>宽屏</PresentationFormat>
  <Paragraphs>344</Paragraphs>
  <Slides>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微软雅黑 Light</vt:lpstr>
      <vt:lpstr>Arial</vt:lpstr>
      <vt:lpstr>Arial Unicode MS</vt:lpstr>
      <vt:lpstr>等线</vt:lpstr>
      <vt:lpstr>Calibri</vt:lpstr>
      <vt:lpstr>Office 主题​​</vt:lpstr>
      <vt:lpstr>TCLayout.ActiveDocument.1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Luo,Zhengyu</dc:creator>
  <cp:lastModifiedBy>Walking</cp:lastModifiedBy>
  <cp:revision>2881</cp:revision>
  <cp:lastPrinted>2026-07-03T08:53:00Z</cp:lastPrinted>
  <dcterms:created xsi:type="dcterms:W3CDTF">2026-07-03T08:53:00Z</dcterms:created>
  <dcterms:modified xsi:type="dcterms:W3CDTF">2026-07-22T09:12:41Z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4A00B1F6A91754AA6F32476A9FD1C126_43</vt:lpwstr>
  </property>
  <property fmtid="{D5CDD505-2E9C-101B-9397-08002B2CF9AE}" pid="3" name="KSOProductBuildVer">
    <vt:lpwstr>2052-12.1.0.26895</vt:lpwstr>
  </property>
</Properties>
</file>